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about 60 seconds. My project asks whether grouping correlated inputs makes model explanations more reliable, or only makes them look more consistent. Imagine six monthly bill amounts: models can distribute importance among these related measurements differently after retraining. I want to distinguish a useful group summary from a summary that hides information. I narrowed the initial COMET proposal because temporal recourse, conformal margins and feature selection would require different evidence. The scope is now feasible in eight weeks on a laptop. The work completed is the proposal audit, literature review and a reproducible logistic-regression pilot; the full experiment is not complete. Name and roll-number fields are editable. Do not call this a finished paper or a new Shapley algorithm.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seconds. SHAP explains a specified model output using a defined coalition-value game. Krishna and colleagues show that different explanation methods can disagree. groupShapley already explains groups, so grouping is not my invention. I also found a 2025 ITNAC paper on feature grouping for robust SHAP and a 2026 paper on agreement and faithfulness-weighted consensus. Their full methods need to be compared before a novelty claim. Our proposed question is whether correlation grouping beats random partitions with the same group sizes, while preserving fidelity and internal information. We will use synthetic cases with a known explanation game and public credit data. The contribution is an empirical evaluation protocol and findings, not an assertion that combining existing tools creates a new theory. Primary links: https://arxiv.org/abs/2106.12228 ; https://arxiv.org/abs/2202.01602 ; https://doi.org/10.1109/ITNAC66378.2025.11302604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90 seconds. We split data before fitting preprocessing or clusters. We retrain several models and explain the same held-out individuals. Each explanation is a vector of contributions in a stated output scale. We summarize either individual features or groups formed from training correlation. We compare the resulting stability to random groups with exactly the same number and sizes of groups. That controls a major shorter-list artefact. Next, we examine cancellation, synthetic exact group values and perturbation fidelity so a stable summary cannot simply hide opposing components. The initial model is logistic regression, where interventional logit contributions have an exact closed form. A small tree model and TreeSHAP are planned. The primary partition stays fixed across retraining; reclustering uncertainty is a separate analysis. We keep data, explainer and retraining randomness distinct. Removing model features, causal recourse and drift guarantees are outside the minimum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90 seconds. The official UCI dataset contains 30,000 rows. Our pilot used 24,000 training and 6,000 test rows; 500 held-out rows were explained for ten bootstrap logistic models. Correlation grouping produced eleven groups from nineteen inputs. Its ranking RBO was .924, compared with .863 for random partitions with the same sizes: an absolute difference of .061. This is not a 6.1 percent improvement in correctness, and it is not a significance claim. Predictive metrics were AP .489, ROC-AUC .713 and Brier .148. Nine mathematical/data-contract checks pass; a repeated run reproduces deterministic outputs. The main limitation is one split and one simple model, including numeric handling of repayment-status codes. The next steps are synthetic ground truth, fidelity/cancellation analysis, a tree model and additional splits/data. I would like approval for this narrowed scope and feedback on whether an empirical evaluation paper meets project requirements. Target a future ICAIF call or a suitable ECML PKDD workshop, with final venue dependent on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Stability without concealment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Proposal + executed preliminary pilot | Core question inspired by Krishna et al. and groupShapley [S03, S04]</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1</a:t>
            </a:r>
          </a:p>
        </p:txBody>
      </p:sp>
      <p:sp>
        <p:nvSpPr>
          <p:cNvPr id="9" name="TextBox 8"/>
          <p:cNvSpPr txBox="1"/>
          <p:nvPr/>
        </p:nvSpPr>
        <p:spPr>
          <a:xfrm>
            <a:off x="548640" y="1508760"/>
            <a:ext cx="10881360" cy="685800"/>
          </a:xfrm>
          <a:prstGeom prst="rect">
            <a:avLst/>
          </a:prstGeom>
          <a:noFill/>
        </p:spPr>
        <p:txBody>
          <a:bodyPr wrap="none" lIns="0" rIns="0" tIns="0" bIns="0">
            <a:spAutoFit/>
          </a:bodyPr>
          <a:lstStyle/>
          <a:p>
            <a:pPr>
              <a:lnSpc>
                <a:spcPts val="2684"/>
              </a:lnSpc>
              <a:spcBef>
                <a:spcPts val="0"/>
              </a:spcBef>
              <a:spcAft>
                <a:spcPts val="0"/>
              </a:spcAft>
              <a:defRPr sz="2200" b="1">
                <a:solidFill>
                  <a:srgbClr val="11283F"/>
                </a:solidFill>
                <a:latin typeface="DejaVu Sans"/>
              </a:defRPr>
            </a:pPr>
            <a:r>
              <a:t>When does grouping correlated inputs improve explanation stability</a:t>
            </a:r>
          </a:p>
          <a:p>
            <a:pPr>
              <a:lnSpc>
                <a:spcPts val="2684"/>
              </a:lnSpc>
              <a:spcBef>
                <a:spcPts val="0"/>
              </a:spcBef>
              <a:spcAft>
                <a:spcPts val="0"/>
              </a:spcAft>
              <a:defRPr sz="2200" b="1">
                <a:solidFill>
                  <a:srgbClr val="11283F"/>
                </a:solidFill>
                <a:latin typeface="DejaVu Sans"/>
              </a:defRPr>
            </a:pPr>
            <a:r>
              <a:t>without hiding useful information?</a:t>
            </a:r>
          </a:p>
        </p:txBody>
      </p:sp>
      <p:sp>
        <p:nvSpPr>
          <p:cNvPr id="10" name="Rectangle 9"/>
          <p:cNvSpPr/>
          <p:nvPr/>
        </p:nvSpPr>
        <p:spPr>
          <a:xfrm>
            <a:off x="548640" y="2560320"/>
            <a:ext cx="3566160" cy="2148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560320"/>
            <a:ext cx="41148" cy="2148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0662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THE PROBLEM</a:t>
            </a:r>
          </a:p>
        </p:txBody>
      </p:sp>
      <p:sp>
        <p:nvSpPr>
          <p:cNvPr id="13" name="TextBox 12"/>
          <p:cNvSpPr txBox="1"/>
          <p:nvPr/>
        </p:nvSpPr>
        <p:spPr>
          <a:xfrm>
            <a:off x="713232" y="3227832"/>
            <a:ext cx="3236976" cy="1389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Similar predictions can</a:t>
            </a:r>
          </a:p>
          <a:p>
            <a:pPr>
              <a:lnSpc>
                <a:spcPts val="2440"/>
              </a:lnSpc>
              <a:spcBef>
                <a:spcPts val="0"/>
              </a:spcBef>
              <a:spcAft>
                <a:spcPts val="0"/>
              </a:spcAft>
              <a:defRPr sz="2000" b="0">
                <a:solidFill>
                  <a:srgbClr val="11283F"/>
                </a:solidFill>
                <a:latin typeface="DejaVu Sans"/>
              </a:defRPr>
            </a:pPr>
            <a:r>
              <a:t>produce different</a:t>
            </a:r>
          </a:p>
          <a:p>
            <a:pPr>
              <a:lnSpc>
                <a:spcPts val="2440"/>
              </a:lnSpc>
              <a:spcBef>
                <a:spcPts val="0"/>
              </a:spcBef>
              <a:spcAft>
                <a:spcPts val="0"/>
              </a:spcAft>
              <a:defRPr sz="2000" b="0">
                <a:solidFill>
                  <a:srgbClr val="11283F"/>
                </a:solidFill>
                <a:latin typeface="DejaVu Sans"/>
              </a:defRPr>
            </a:pPr>
            <a:r>
              <a:t>feature rankings after</a:t>
            </a:r>
          </a:p>
          <a:p>
            <a:pPr>
              <a:lnSpc>
                <a:spcPts val="2440"/>
              </a:lnSpc>
              <a:spcBef>
                <a:spcPts val="0"/>
              </a:spcBef>
              <a:spcAft>
                <a:spcPts val="0"/>
              </a:spcAft>
              <a:defRPr sz="2000" b="0">
                <a:solidFill>
                  <a:srgbClr val="11283F"/>
                </a:solidFill>
                <a:latin typeface="DejaVu Sans"/>
              </a:defRPr>
            </a:pPr>
            <a:r>
              <a:t>retraining.</a:t>
            </a:r>
          </a:p>
        </p:txBody>
      </p:sp>
      <p:sp>
        <p:nvSpPr>
          <p:cNvPr id="14" name="Rectangle 13"/>
          <p:cNvSpPr/>
          <p:nvPr/>
        </p:nvSpPr>
        <p:spPr>
          <a:xfrm>
            <a:off x="4297680" y="2560320"/>
            <a:ext cx="3566160" cy="2148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560320"/>
            <a:ext cx="41148" cy="2148840"/>
          </a:xfrm>
          <a:prstGeom prst="rect">
            <a:avLst/>
          </a:prstGeom>
          <a:solidFill>
            <a:srgbClr val="BC7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270662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BC7412"/>
                </a:solidFill>
                <a:latin typeface="DejaVu Sans"/>
              </a:defRPr>
            </a:pPr>
            <a:r>
              <a:t>THE TRAP</a:t>
            </a:r>
          </a:p>
        </p:txBody>
      </p:sp>
      <p:sp>
        <p:nvSpPr>
          <p:cNvPr id="17" name="TextBox 16"/>
          <p:cNvSpPr txBox="1"/>
          <p:nvPr/>
        </p:nvSpPr>
        <p:spPr>
          <a:xfrm>
            <a:off x="4462272" y="3227832"/>
            <a:ext cx="3236976" cy="1389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Shorter lists and random</a:t>
            </a:r>
          </a:p>
          <a:p>
            <a:pPr>
              <a:lnSpc>
                <a:spcPts val="2440"/>
              </a:lnSpc>
              <a:spcBef>
                <a:spcPts val="0"/>
              </a:spcBef>
              <a:spcAft>
                <a:spcPts val="0"/>
              </a:spcAft>
              <a:defRPr sz="2000" b="0">
                <a:solidFill>
                  <a:srgbClr val="11283F"/>
                </a:solidFill>
                <a:latin typeface="DejaVu Sans"/>
              </a:defRPr>
            </a:pPr>
            <a:r>
              <a:t>grouping can also</a:t>
            </a:r>
          </a:p>
          <a:p>
            <a:pPr>
              <a:lnSpc>
                <a:spcPts val="2440"/>
              </a:lnSpc>
              <a:spcBef>
                <a:spcPts val="0"/>
              </a:spcBef>
              <a:spcAft>
                <a:spcPts val="0"/>
              </a:spcAft>
              <a:defRPr sz="2000" b="0">
                <a:solidFill>
                  <a:srgbClr val="11283F"/>
                </a:solidFill>
                <a:latin typeface="DejaVu Sans"/>
              </a:defRPr>
            </a:pPr>
            <a:r>
              <a:t>appear more stable.</a:t>
            </a:r>
          </a:p>
        </p:txBody>
      </p:sp>
      <p:sp>
        <p:nvSpPr>
          <p:cNvPr id="18" name="Rectangle 17"/>
          <p:cNvSpPr/>
          <p:nvPr/>
        </p:nvSpPr>
        <p:spPr>
          <a:xfrm>
            <a:off x="8046720" y="2560320"/>
            <a:ext cx="3566160" cy="214884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560320"/>
            <a:ext cx="41148" cy="21488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706624"/>
            <a:ext cx="32369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OUR TEST</a:t>
            </a:r>
          </a:p>
        </p:txBody>
      </p:sp>
      <p:sp>
        <p:nvSpPr>
          <p:cNvPr id="21" name="TextBox 20"/>
          <p:cNvSpPr txBox="1"/>
          <p:nvPr/>
        </p:nvSpPr>
        <p:spPr>
          <a:xfrm>
            <a:off x="8211312" y="3227832"/>
            <a:ext cx="3236976" cy="1389888"/>
          </a:xfrm>
          <a:prstGeom prst="rect">
            <a:avLst/>
          </a:prstGeom>
          <a:noFill/>
        </p:spPr>
        <p:txBody>
          <a:bodyPr wrap="none" lIns="0" rIns="0" tIns="0" bIns="0">
            <a:spAutoFit/>
          </a:bodyPr>
          <a:lstStyle/>
          <a:p>
            <a:pPr>
              <a:lnSpc>
                <a:spcPts val="2440"/>
              </a:lnSpc>
              <a:spcBef>
                <a:spcPts val="0"/>
              </a:spcBef>
              <a:spcAft>
                <a:spcPts val="0"/>
              </a:spcAft>
              <a:defRPr sz="2000" b="0">
                <a:solidFill>
                  <a:srgbClr val="11283F"/>
                </a:solidFill>
                <a:latin typeface="DejaVu Sans"/>
              </a:defRPr>
            </a:pPr>
            <a:r>
              <a:t>Compare matched</a:t>
            </a:r>
          </a:p>
          <a:p>
            <a:pPr>
              <a:lnSpc>
                <a:spcPts val="2440"/>
              </a:lnSpc>
              <a:spcBef>
                <a:spcPts val="0"/>
              </a:spcBef>
              <a:spcAft>
                <a:spcPts val="0"/>
              </a:spcAft>
              <a:defRPr sz="2000" b="0">
                <a:solidFill>
                  <a:srgbClr val="11283F"/>
                </a:solidFill>
                <a:latin typeface="DejaVu Sans"/>
              </a:defRPr>
            </a:pPr>
            <a:r>
              <a:t>groups; measure</a:t>
            </a:r>
          </a:p>
          <a:p>
            <a:pPr>
              <a:lnSpc>
                <a:spcPts val="2440"/>
              </a:lnSpc>
              <a:spcBef>
                <a:spcPts val="0"/>
              </a:spcBef>
              <a:spcAft>
                <a:spcPts val="0"/>
              </a:spcAft>
              <a:defRPr sz="2000" b="0">
                <a:solidFill>
                  <a:srgbClr val="11283F"/>
                </a:solidFill>
                <a:latin typeface="DejaVu Sans"/>
              </a:defRPr>
            </a:pPr>
            <a:r>
              <a:t>stability plus fidelity and</a:t>
            </a:r>
          </a:p>
          <a:p>
            <a:pPr>
              <a:lnSpc>
                <a:spcPts val="2440"/>
              </a:lnSpc>
              <a:spcBef>
                <a:spcPts val="0"/>
              </a:spcBef>
              <a:spcAft>
                <a:spcPts val="0"/>
              </a:spcAft>
              <a:defRPr sz="2000" b="0">
                <a:solidFill>
                  <a:srgbClr val="11283F"/>
                </a:solidFill>
                <a:latin typeface="DejaVu Sans"/>
              </a:defRPr>
            </a:pPr>
            <a:r>
              <a:t>cancellation.</a:t>
            </a:r>
          </a:p>
        </p:txBody>
      </p:sp>
      <p:sp>
        <p:nvSpPr>
          <p:cNvPr id="22" name="TextBox 21"/>
          <p:cNvSpPr txBox="1"/>
          <p:nvPr/>
        </p:nvSpPr>
        <p:spPr>
          <a:xfrm>
            <a:off x="594360" y="5074920"/>
            <a:ext cx="10972800" cy="45720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Credit benchmark • interpretable baseline • controlled comparisons • eight weeks</a:t>
            </a:r>
          </a:p>
        </p:txBody>
      </p:sp>
      <p:sp>
        <p:nvSpPr>
          <p:cNvPr id="23" name="TextBox 22"/>
          <p:cNvSpPr txBox="1"/>
          <p:nvPr/>
        </p:nvSpPr>
        <p:spPr>
          <a:xfrm>
            <a:off x="594360" y="5696712"/>
            <a:ext cx="10972800" cy="384048"/>
          </a:xfrm>
          <a:prstGeom prst="rect">
            <a:avLst/>
          </a:prstGeom>
          <a:noFill/>
        </p:spPr>
        <p:txBody>
          <a:bodyPr wrap="none" lIns="0" rIns="0" tIns="0" bIns="0">
            <a:spAutoFit/>
          </a:bodyPr>
          <a:lstStyle/>
          <a:p>
            <a:pPr>
              <a:lnSpc>
                <a:spcPts val="2074"/>
              </a:lnSpc>
              <a:spcBef>
                <a:spcPts val="0"/>
              </a:spcBef>
              <a:spcAft>
                <a:spcPts val="0"/>
              </a:spcAft>
              <a:defRPr sz="1700" b="0">
                <a:solidFill>
                  <a:srgbClr val="53667A"/>
                </a:solidFill>
                <a:latin typeface="DejaVu Sans"/>
              </a:defRPr>
            </a:pPr>
            <a:r>
              <a:t>[Student name] | [Roll number] | B.Tech IT, DTU | Prof. Rahul Gupta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354"/>
              </a:lnSpc>
              <a:spcBef>
                <a:spcPts val="0"/>
              </a:spcBef>
              <a:spcAft>
                <a:spcPts val="0"/>
              </a:spcAft>
              <a:defRPr sz="2750" b="1">
                <a:solidFill>
                  <a:srgbClr val="11283F"/>
                </a:solidFill>
                <a:latin typeface="DejaVu Sans"/>
              </a:defRPr>
            </a:pPr>
            <a:r>
              <a:t>What the literature establishes — and what we will test</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Sources: SHAP [S01]; disagreement [S03]; groupShapley [S04]; ITNAC 2025 [N03]; agreement 2026 [N04]</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2</a:t>
            </a:r>
          </a:p>
        </p:txBody>
      </p:sp>
      <p:sp>
        <p:nvSpPr>
          <p:cNvPr id="9" name="Rectangle 8"/>
          <p:cNvSpPr/>
          <p:nvPr/>
        </p:nvSpPr>
        <p:spPr>
          <a:xfrm>
            <a:off x="548640" y="1508760"/>
            <a:ext cx="1106424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19"/>
            <a:ext cx="2743200" cy="5943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SHAP + dependence</a:t>
            </a:r>
          </a:p>
        </p:txBody>
      </p:sp>
      <p:sp>
        <p:nvSpPr>
          <p:cNvPr id="11" name="TextBox 10"/>
          <p:cNvSpPr txBox="1"/>
          <p:nvPr/>
        </p:nvSpPr>
        <p:spPr>
          <a:xfrm>
            <a:off x="3657600" y="1618488"/>
            <a:ext cx="7680960" cy="347472"/>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Credit depends on model, background and explanation game.</a:t>
            </a:r>
          </a:p>
        </p:txBody>
      </p:sp>
      <p:sp>
        <p:nvSpPr>
          <p:cNvPr id="12" name="TextBox 11"/>
          <p:cNvSpPr txBox="1"/>
          <p:nvPr/>
        </p:nvSpPr>
        <p:spPr>
          <a:xfrm>
            <a:off x="3657600" y="2029967"/>
            <a:ext cx="7680960" cy="228600"/>
          </a:xfrm>
          <a:prstGeom prst="rect">
            <a:avLst/>
          </a:prstGeom>
          <a:noFill/>
        </p:spPr>
        <p:txBody>
          <a:bodyPr wrap="none" lIns="0" rIns="0" tIns="0" bIns="0">
            <a:spAutoFit/>
          </a:bodyPr>
          <a:lstStyle/>
          <a:p>
            <a:pPr>
              <a:lnSpc>
                <a:spcPts val="1464"/>
              </a:lnSpc>
              <a:spcBef>
                <a:spcPts val="0"/>
              </a:spcBef>
              <a:spcAft>
                <a:spcPts val="0"/>
              </a:spcAft>
              <a:defRPr sz="1200" b="0">
                <a:solidFill>
                  <a:srgbClr val="53667A"/>
                </a:solidFill>
                <a:latin typeface="DejaVu Sans"/>
              </a:defRPr>
            </a:pPr>
            <a:r>
              <a:t>Lundberg &amp; Lee; Aas et al.</a:t>
            </a:r>
          </a:p>
        </p:txBody>
      </p:sp>
      <p:sp>
        <p:nvSpPr>
          <p:cNvPr id="13" name="Rectangle 12"/>
          <p:cNvSpPr/>
          <p:nvPr/>
        </p:nvSpPr>
        <p:spPr>
          <a:xfrm>
            <a:off x="548640" y="2532888"/>
            <a:ext cx="1106424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70048"/>
            <a:ext cx="2743200" cy="5943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Disagreement +</a:t>
            </a:r>
          </a:p>
          <a:p>
            <a:pPr>
              <a:lnSpc>
                <a:spcPts val="2196"/>
              </a:lnSpc>
              <a:spcBef>
                <a:spcPts val="0"/>
              </a:spcBef>
              <a:spcAft>
                <a:spcPts val="0"/>
              </a:spcAft>
              <a:defRPr sz="1800" b="1">
                <a:solidFill>
                  <a:srgbClr val="087F8C"/>
                </a:solidFill>
                <a:latin typeface="DejaVu Sans"/>
              </a:defRPr>
            </a:pPr>
            <a:r>
              <a:t>aggregation</a:t>
            </a:r>
          </a:p>
        </p:txBody>
      </p:sp>
      <p:sp>
        <p:nvSpPr>
          <p:cNvPr id="15" name="TextBox 14"/>
          <p:cNvSpPr txBox="1"/>
          <p:nvPr/>
        </p:nvSpPr>
        <p:spPr>
          <a:xfrm>
            <a:off x="3657600" y="2642616"/>
            <a:ext cx="7680960" cy="347472"/>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Agreement is a research problem; fusion already exists.</a:t>
            </a:r>
          </a:p>
        </p:txBody>
      </p:sp>
      <p:sp>
        <p:nvSpPr>
          <p:cNvPr id="16" name="TextBox 15"/>
          <p:cNvSpPr txBox="1"/>
          <p:nvPr/>
        </p:nvSpPr>
        <p:spPr>
          <a:xfrm>
            <a:off x="3657600" y="3054096"/>
            <a:ext cx="7680960" cy="228600"/>
          </a:xfrm>
          <a:prstGeom prst="rect">
            <a:avLst/>
          </a:prstGeom>
          <a:noFill/>
        </p:spPr>
        <p:txBody>
          <a:bodyPr wrap="none" lIns="0" rIns="0" tIns="0" bIns="0">
            <a:spAutoFit/>
          </a:bodyPr>
          <a:lstStyle/>
          <a:p>
            <a:pPr>
              <a:lnSpc>
                <a:spcPts val="1464"/>
              </a:lnSpc>
              <a:spcBef>
                <a:spcPts val="0"/>
              </a:spcBef>
              <a:spcAft>
                <a:spcPts val="0"/>
              </a:spcAft>
              <a:defRPr sz="1200" b="0">
                <a:solidFill>
                  <a:srgbClr val="53667A"/>
                </a:solidFill>
                <a:latin typeface="DejaVu Sans"/>
              </a:defRPr>
            </a:pPr>
            <a:r>
              <a:t>Krishna et al.; Bhatt et al.</a:t>
            </a:r>
          </a:p>
        </p:txBody>
      </p:sp>
      <p:sp>
        <p:nvSpPr>
          <p:cNvPr id="17" name="Rectangle 16"/>
          <p:cNvSpPr/>
          <p:nvPr/>
        </p:nvSpPr>
        <p:spPr>
          <a:xfrm>
            <a:off x="548640" y="3557016"/>
            <a:ext cx="11064240" cy="91440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694176"/>
            <a:ext cx="2743200" cy="59436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Grouped</a:t>
            </a:r>
          </a:p>
          <a:p>
            <a:pPr>
              <a:lnSpc>
                <a:spcPts val="2196"/>
              </a:lnSpc>
              <a:spcBef>
                <a:spcPts val="0"/>
              </a:spcBef>
              <a:spcAft>
                <a:spcPts val="0"/>
              </a:spcAft>
              <a:defRPr sz="1800" b="1">
                <a:solidFill>
                  <a:srgbClr val="087F8C"/>
                </a:solidFill>
                <a:latin typeface="DejaVu Sans"/>
              </a:defRPr>
            </a:pPr>
            <a:r>
              <a:t>explanations</a:t>
            </a:r>
          </a:p>
        </p:txBody>
      </p:sp>
      <p:sp>
        <p:nvSpPr>
          <p:cNvPr id="19" name="TextBox 18"/>
          <p:cNvSpPr txBox="1"/>
          <p:nvPr/>
        </p:nvSpPr>
        <p:spPr>
          <a:xfrm>
            <a:off x="3657600" y="3666744"/>
            <a:ext cx="7680960" cy="347472"/>
          </a:xfrm>
          <a:prstGeom prst="rect">
            <a:avLst/>
          </a:prstGeom>
          <a:noFill/>
        </p:spPr>
        <p:txBody>
          <a:bodyPr wrap="none" lIns="0" rIns="0" tIns="0" bIns="0">
            <a:spAutoFit/>
          </a:bodyPr>
          <a:lstStyle/>
          <a:p>
            <a:pPr>
              <a:lnSpc>
                <a:spcPts val="2074"/>
              </a:lnSpc>
              <a:spcBef>
                <a:spcPts val="0"/>
              </a:spcBef>
              <a:spcAft>
                <a:spcPts val="0"/>
              </a:spcAft>
              <a:defRPr sz="1700" b="0">
                <a:solidFill>
                  <a:srgbClr val="11283F"/>
                </a:solidFill>
                <a:latin typeface="DejaVu Sans"/>
              </a:defRPr>
            </a:pPr>
            <a:r>
              <a:t>groupShapley and recent robustness work are close prior art.</a:t>
            </a:r>
          </a:p>
        </p:txBody>
      </p:sp>
      <p:sp>
        <p:nvSpPr>
          <p:cNvPr id="20" name="TextBox 19"/>
          <p:cNvSpPr txBox="1"/>
          <p:nvPr/>
        </p:nvSpPr>
        <p:spPr>
          <a:xfrm>
            <a:off x="3657600" y="4078224"/>
            <a:ext cx="7680960" cy="228600"/>
          </a:xfrm>
          <a:prstGeom prst="rect">
            <a:avLst/>
          </a:prstGeom>
          <a:noFill/>
        </p:spPr>
        <p:txBody>
          <a:bodyPr wrap="none" lIns="0" rIns="0" tIns="0" bIns="0">
            <a:spAutoFit/>
          </a:bodyPr>
          <a:lstStyle/>
          <a:p>
            <a:pPr>
              <a:lnSpc>
                <a:spcPts val="1464"/>
              </a:lnSpc>
              <a:spcBef>
                <a:spcPts val="0"/>
              </a:spcBef>
              <a:spcAft>
                <a:spcPts val="0"/>
              </a:spcAft>
              <a:defRPr sz="1200" b="0">
                <a:solidFill>
                  <a:srgbClr val="53667A"/>
                </a:solidFill>
                <a:latin typeface="DejaVu Sans"/>
              </a:defRPr>
            </a:pPr>
            <a:r>
              <a:t>Jullum et al.; Hendro et al. (2025)</a:t>
            </a:r>
          </a:p>
        </p:txBody>
      </p:sp>
      <p:sp>
        <p:nvSpPr>
          <p:cNvPr id="21" name="Rectangle 20"/>
          <p:cNvSpPr/>
          <p:nvPr/>
        </p:nvSpPr>
        <p:spPr>
          <a:xfrm>
            <a:off x="548640" y="4791456"/>
            <a:ext cx="11064240" cy="1115568"/>
          </a:xfrm>
          <a:prstGeom prst="rect">
            <a:avLst/>
          </a:prstGeom>
          <a:solidFill>
            <a:srgbClr val="11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10607040" cy="685800"/>
          </a:xfrm>
          <a:prstGeom prst="rect">
            <a:avLst/>
          </a:prstGeom>
          <a:noFill/>
        </p:spPr>
        <p:txBody>
          <a:bodyPr wrap="none" lIns="0" rIns="0" tIns="0" bIns="0">
            <a:spAutoFit/>
          </a:bodyPr>
          <a:lstStyle/>
          <a:p>
            <a:pPr>
              <a:lnSpc>
                <a:spcPts val="2562"/>
              </a:lnSpc>
              <a:spcBef>
                <a:spcPts val="0"/>
              </a:spcBef>
              <a:spcAft>
                <a:spcPts val="0"/>
              </a:spcAft>
              <a:defRPr sz="2100" b="1">
                <a:solidFill>
                  <a:srgbClr val="FFFFFF"/>
                </a:solidFill>
                <a:latin typeface="DejaVu Sans"/>
              </a:defRPr>
            </a:pPr>
            <a:r>
              <a:t>Proposed gap: test stability beyond matched random grouping,</a:t>
            </a:r>
          </a:p>
          <a:p>
            <a:pPr>
              <a:lnSpc>
                <a:spcPts val="2562"/>
              </a:lnSpc>
              <a:spcBef>
                <a:spcPts val="0"/>
              </a:spcBef>
              <a:spcAft>
                <a:spcPts val="0"/>
              </a:spcAft>
              <a:defRPr sz="2100" b="1">
                <a:solidFill>
                  <a:srgbClr val="FFFFFF"/>
                </a:solidFill>
                <a:latin typeface="DejaVu Sans"/>
              </a:defRPr>
            </a:pPr>
            <a:r>
              <a:t>together with information loss and known-ground-truth fidelity.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Methodology and controlled evaluation</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Core method: train-only correlation grouping; coalition sums; size-matched controls. No temporal or causal recourse claim.</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3</a:t>
            </a:r>
          </a:p>
        </p:txBody>
      </p:sp>
      <p:sp>
        <p:nvSpPr>
          <p:cNvPr id="9" name="Rectangle 8"/>
          <p:cNvSpPr/>
          <p:nvPr/>
        </p:nvSpPr>
        <p:spPr>
          <a:xfrm>
            <a:off x="548640"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01</a:t>
            </a:r>
          </a:p>
        </p:txBody>
      </p:sp>
      <p:sp>
        <p:nvSpPr>
          <p:cNvPr id="11" name="TextBox 10"/>
          <p:cNvSpPr txBox="1"/>
          <p:nvPr/>
        </p:nvSpPr>
        <p:spPr>
          <a:xfrm>
            <a:off x="685800"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Split + preprocess</a:t>
            </a:r>
          </a:p>
        </p:txBody>
      </p:sp>
      <p:sp>
        <p:nvSpPr>
          <p:cNvPr id="12" name="TextBox 11"/>
          <p:cNvSpPr txBox="1"/>
          <p:nvPr/>
        </p:nvSpPr>
        <p:spPr>
          <a:xfrm>
            <a:off x="685800" y="2624328"/>
            <a:ext cx="2331720" cy="320040"/>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Fit only on training data</a:t>
            </a:r>
          </a:p>
        </p:txBody>
      </p:sp>
      <p:sp>
        <p:nvSpPr>
          <p:cNvPr id="13" name="Rectangle 12"/>
          <p:cNvSpPr/>
          <p:nvPr/>
        </p:nvSpPr>
        <p:spPr>
          <a:xfrm>
            <a:off x="3364992"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02</a:t>
            </a:r>
          </a:p>
        </p:txBody>
      </p:sp>
      <p:sp>
        <p:nvSpPr>
          <p:cNvPr id="15" name="TextBox 14"/>
          <p:cNvSpPr txBox="1"/>
          <p:nvPr/>
        </p:nvSpPr>
        <p:spPr>
          <a:xfrm>
            <a:off x="3502152"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Retrain + explain</a:t>
            </a:r>
          </a:p>
        </p:txBody>
      </p:sp>
      <p:sp>
        <p:nvSpPr>
          <p:cNvPr id="16" name="TextBox 15"/>
          <p:cNvSpPr txBox="1"/>
          <p:nvPr/>
        </p:nvSpPr>
        <p:spPr>
          <a:xfrm>
            <a:off x="3502152" y="2624328"/>
            <a:ext cx="2331720" cy="320040"/>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Same held-out people</a:t>
            </a:r>
          </a:p>
        </p:txBody>
      </p:sp>
      <p:sp>
        <p:nvSpPr>
          <p:cNvPr id="17" name="Rectangle 16"/>
          <p:cNvSpPr/>
          <p:nvPr/>
        </p:nvSpPr>
        <p:spPr>
          <a:xfrm>
            <a:off x="6181344"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03</a:t>
            </a:r>
          </a:p>
        </p:txBody>
      </p:sp>
      <p:sp>
        <p:nvSpPr>
          <p:cNvPr id="19" name="TextBox 18"/>
          <p:cNvSpPr txBox="1"/>
          <p:nvPr/>
        </p:nvSpPr>
        <p:spPr>
          <a:xfrm>
            <a:off x="6318504"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Group + controls</a:t>
            </a:r>
          </a:p>
        </p:txBody>
      </p:sp>
      <p:sp>
        <p:nvSpPr>
          <p:cNvPr id="20" name="TextBox 19"/>
          <p:cNvSpPr txBox="1"/>
          <p:nvPr/>
        </p:nvSpPr>
        <p:spPr>
          <a:xfrm>
            <a:off x="6318504" y="2624328"/>
            <a:ext cx="2331720" cy="320040"/>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Match group sizes exactly</a:t>
            </a:r>
          </a:p>
        </p:txBody>
      </p:sp>
      <p:sp>
        <p:nvSpPr>
          <p:cNvPr id="21" name="Rectangle 20"/>
          <p:cNvSpPr/>
          <p:nvPr/>
        </p:nvSpPr>
        <p:spPr>
          <a:xfrm>
            <a:off x="8997696" y="1600200"/>
            <a:ext cx="2633472" cy="150876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34856" y="1737360"/>
            <a:ext cx="2331720" cy="365760"/>
          </a:xfrm>
          <a:prstGeom prst="rect">
            <a:avLst/>
          </a:prstGeom>
          <a:noFill/>
        </p:spPr>
        <p:txBody>
          <a:bodyPr wrap="none" lIns="0" rIns="0" tIns="0" bIns="0">
            <a:spAutoFit/>
          </a:bodyPr>
          <a:lstStyle/>
          <a:p>
            <a:pPr>
              <a:lnSpc>
                <a:spcPts val="2440"/>
              </a:lnSpc>
              <a:spcBef>
                <a:spcPts val="0"/>
              </a:spcBef>
              <a:spcAft>
                <a:spcPts val="0"/>
              </a:spcAft>
              <a:defRPr sz="2000" b="1">
                <a:solidFill>
                  <a:srgbClr val="087F8C"/>
                </a:solidFill>
                <a:latin typeface="DejaVu Sans"/>
              </a:defRPr>
            </a:pPr>
            <a:r>
              <a:t>04</a:t>
            </a:r>
          </a:p>
        </p:txBody>
      </p:sp>
      <p:sp>
        <p:nvSpPr>
          <p:cNvPr id="23" name="TextBox 22"/>
          <p:cNvSpPr txBox="1"/>
          <p:nvPr/>
        </p:nvSpPr>
        <p:spPr>
          <a:xfrm>
            <a:off x="9134856" y="2176272"/>
            <a:ext cx="2377440" cy="320040"/>
          </a:xfrm>
          <a:prstGeom prst="rect">
            <a:avLst/>
          </a:prstGeom>
          <a:noFill/>
        </p:spPr>
        <p:txBody>
          <a:bodyPr wrap="none" lIns="0" rIns="0" tIns="0" bIns="0">
            <a:spAutoFit/>
          </a:bodyPr>
          <a:lstStyle/>
          <a:p>
            <a:pPr>
              <a:lnSpc>
                <a:spcPts val="1952"/>
              </a:lnSpc>
              <a:spcBef>
                <a:spcPts val="0"/>
              </a:spcBef>
              <a:spcAft>
                <a:spcPts val="0"/>
              </a:spcAft>
              <a:defRPr sz="1600" b="1">
                <a:solidFill>
                  <a:srgbClr val="11283F"/>
                </a:solidFill>
                <a:latin typeface="DejaVu Sans"/>
              </a:defRPr>
            </a:pPr>
            <a:r>
              <a:t>Evaluate</a:t>
            </a:r>
          </a:p>
        </p:txBody>
      </p:sp>
      <p:sp>
        <p:nvSpPr>
          <p:cNvPr id="24" name="TextBox 23"/>
          <p:cNvSpPr txBox="1"/>
          <p:nvPr/>
        </p:nvSpPr>
        <p:spPr>
          <a:xfrm>
            <a:off x="9134856" y="2624328"/>
            <a:ext cx="2331720" cy="320040"/>
          </a:xfrm>
          <a:prstGeom prst="rect">
            <a:avLst/>
          </a:prstGeom>
          <a:noFill/>
        </p:spPr>
        <p:txBody>
          <a:bodyPr wrap="none" lIns="0" rIns="0" tIns="0" bIns="0">
            <a:spAutoFit/>
          </a:bodyPr>
          <a:lstStyle/>
          <a:p>
            <a:pPr>
              <a:lnSpc>
                <a:spcPts val="1525"/>
              </a:lnSpc>
              <a:spcBef>
                <a:spcPts val="0"/>
              </a:spcBef>
              <a:spcAft>
                <a:spcPts val="0"/>
              </a:spcAft>
              <a:defRPr sz="1250" b="0">
                <a:solidFill>
                  <a:srgbClr val="53667A"/>
                </a:solidFill>
                <a:latin typeface="DejaVu Sans"/>
              </a:defRPr>
            </a:pPr>
            <a:r>
              <a:t>Stability AND retained detail</a:t>
            </a:r>
          </a:p>
        </p:txBody>
      </p:sp>
      <p:sp>
        <p:nvSpPr>
          <p:cNvPr id="25" name="Rectangle 24"/>
          <p:cNvSpPr/>
          <p:nvPr/>
        </p:nvSpPr>
        <p:spPr>
          <a:xfrm>
            <a:off x="548640" y="3474720"/>
            <a:ext cx="5394960" cy="22402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74720"/>
            <a:ext cx="41148"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3621024"/>
            <a:ext cx="506577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MEASURE</a:t>
            </a:r>
          </a:p>
        </p:txBody>
      </p:sp>
      <p:sp>
        <p:nvSpPr>
          <p:cNvPr id="28" name="TextBox 27"/>
          <p:cNvSpPr txBox="1"/>
          <p:nvPr/>
        </p:nvSpPr>
        <p:spPr>
          <a:xfrm>
            <a:off x="713232" y="4142231"/>
            <a:ext cx="5065776" cy="1481328"/>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RBO stability • matched-random difference</a:t>
            </a:r>
          </a:p>
          <a:p>
            <a:pPr>
              <a:lnSpc>
                <a:spcPts val="2196"/>
              </a:lnSpc>
              <a:spcBef>
                <a:spcPts val="0"/>
              </a:spcBef>
              <a:spcAft>
                <a:spcPts val="0"/>
              </a:spcAft>
              <a:defRPr sz="1800" b="0">
                <a:solidFill>
                  <a:srgbClr val="11283F"/>
                </a:solidFill>
                <a:latin typeface="DejaVu Sans"/>
              </a:defRPr>
            </a:pPr>
            <a:r>
              <a:t>Cancellation • synthetic attribution error</a:t>
            </a:r>
          </a:p>
          <a:p>
            <a:pPr>
              <a:lnSpc>
                <a:spcPts val="2196"/>
              </a:lnSpc>
              <a:spcBef>
                <a:spcPts val="0"/>
              </a:spcBef>
              <a:spcAft>
                <a:spcPts val="0"/>
              </a:spcAft>
              <a:defRPr sz="1800" b="0">
                <a:solidFill>
                  <a:srgbClr val="11283F"/>
                </a:solidFill>
                <a:latin typeface="DejaVu Sans"/>
              </a:defRPr>
            </a:pPr>
            <a:r>
              <a:t>AP / ROC-AUC / Brier • runtime</a:t>
            </a:r>
          </a:p>
        </p:txBody>
      </p:sp>
      <p:sp>
        <p:nvSpPr>
          <p:cNvPr id="29" name="Rectangle 28"/>
          <p:cNvSpPr/>
          <p:nvPr/>
        </p:nvSpPr>
        <p:spPr>
          <a:xfrm>
            <a:off x="6144768" y="3474720"/>
            <a:ext cx="5440680" cy="22402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44768" y="3474720"/>
            <a:ext cx="41148" cy="22402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59" y="3621024"/>
            <a:ext cx="511149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CONTROL</a:t>
            </a:r>
          </a:p>
        </p:txBody>
      </p:sp>
      <p:sp>
        <p:nvSpPr>
          <p:cNvPr id="32" name="TextBox 31"/>
          <p:cNvSpPr txBox="1"/>
          <p:nvPr/>
        </p:nvSpPr>
        <p:spPr>
          <a:xfrm>
            <a:off x="6309359" y="4142231"/>
            <a:ext cx="5111496" cy="1481328"/>
          </a:xfrm>
          <a:prstGeom prst="rect">
            <a:avLst/>
          </a:prstGeom>
          <a:noFill/>
        </p:spPr>
        <p:txBody>
          <a:bodyPr wrap="none" lIns="0" rIns="0" tIns="0" bIns="0">
            <a:spAutoFit/>
          </a:bodyPr>
          <a:lstStyle/>
          <a:p>
            <a:pPr>
              <a:lnSpc>
                <a:spcPts val="2196"/>
              </a:lnSpc>
              <a:spcBef>
                <a:spcPts val="0"/>
              </a:spcBef>
              <a:spcAft>
                <a:spcPts val="0"/>
              </a:spcAft>
              <a:defRPr sz="1800" b="0">
                <a:solidFill>
                  <a:srgbClr val="11283F"/>
                </a:solidFill>
                <a:latin typeface="DejaVu Sans"/>
              </a:defRPr>
            </a:pPr>
            <a:r>
              <a:t>No grouping • same-size random groups</a:t>
            </a:r>
          </a:p>
          <a:p>
            <a:pPr>
              <a:lnSpc>
                <a:spcPts val="2196"/>
              </a:lnSpc>
              <a:spcBef>
                <a:spcPts val="0"/>
              </a:spcBef>
              <a:spcAft>
                <a:spcPts val="0"/>
              </a:spcAft>
              <a:defRPr sz="1800" b="0">
                <a:solidFill>
                  <a:srgbClr val="11283F"/>
                </a:solidFill>
                <a:latin typeface="DejaVu Sans"/>
              </a:defRPr>
            </a:pPr>
            <a:r>
              <a:t>Known additive + interaction cases</a:t>
            </a:r>
          </a:p>
          <a:p>
            <a:pPr>
              <a:lnSpc>
                <a:spcPts val="2196"/>
              </a:lnSpc>
              <a:spcBef>
                <a:spcPts val="0"/>
              </a:spcBef>
              <a:spcAft>
                <a:spcPts val="0"/>
              </a:spcAft>
              <a:defRPr sz="1800" b="0">
                <a:solidFill>
                  <a:srgbClr val="11283F"/>
                </a:solidFill>
                <a:latin typeface="DejaVu Sans"/>
              </a:defRPr>
            </a:pPr>
            <a:r>
              <a:t>Fixed model/output/background per</a:t>
            </a:r>
          </a:p>
          <a:p>
            <a:pPr>
              <a:lnSpc>
                <a:spcPts val="2196"/>
              </a:lnSpc>
              <a:spcBef>
                <a:spcPts val="0"/>
              </a:spcBef>
              <a:spcAft>
                <a:spcPts val="0"/>
              </a:spcAft>
              <a:defRPr sz="1800" b="0">
                <a:solidFill>
                  <a:srgbClr val="11283F"/>
                </a:solidFill>
                <a:latin typeface="DejaVu Sans"/>
              </a:defRPr>
            </a:pPr>
            <a:r>
              <a:t>comparison</a:t>
            </a:r>
          </a:p>
        </p:txBody>
      </p:sp>
      <p:sp>
        <p:nvSpPr>
          <p:cNvPr id="33" name="TextBox 32"/>
          <p:cNvSpPr txBox="1"/>
          <p:nvPr/>
        </p:nvSpPr>
        <p:spPr>
          <a:xfrm>
            <a:off x="594360" y="5916168"/>
            <a:ext cx="10972800" cy="256032"/>
          </a:xfrm>
          <a:prstGeom prst="rect">
            <a:avLst/>
          </a:prstGeom>
          <a:noFill/>
        </p:spPr>
        <p:txBody>
          <a:bodyPr wrap="none" lIns="0" rIns="0" tIns="0" bIns="0">
            <a:spAutoFit/>
          </a:bodyPr>
          <a:lstStyle/>
          <a:p>
            <a:pPr>
              <a:lnSpc>
                <a:spcPts val="1586"/>
              </a:lnSpc>
              <a:spcBef>
                <a:spcPts val="0"/>
              </a:spcBef>
              <a:spcAft>
                <a:spcPts val="0"/>
              </a:spcAft>
              <a:defRPr sz="1300" b="0">
                <a:solidFill>
                  <a:srgbClr val="53667A"/>
                </a:solidFill>
                <a:latin typeface="DejaVu Sans"/>
              </a:defRPr>
            </a:pPr>
            <a:r>
              <a:t>Minimum scope: synthetic data + UCI credit; logistic + one tree family. HELOC is conditional on verified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46888"/>
            <a:ext cx="10972800" cy="228600"/>
          </a:xfrm>
          <a:prstGeom prst="rect">
            <a:avLst/>
          </a:prstGeom>
          <a:noFill/>
        </p:spPr>
        <p:txBody>
          <a:bodyPr wrap="none" lIns="0" rIns="0" tIns="0" bIns="0">
            <a:spAutoFit/>
          </a:bodyPr>
          <a:lstStyle/>
          <a:p>
            <a:pPr>
              <a:lnSpc>
                <a:spcPts val="1220"/>
              </a:lnSpc>
              <a:spcBef>
                <a:spcPts val="0"/>
              </a:spcBef>
              <a:spcAft>
                <a:spcPts val="0"/>
              </a:spcAft>
              <a:defRPr sz="1000" b="1">
                <a:solidFill>
                  <a:srgbClr val="087F8C"/>
                </a:solidFill>
                <a:latin typeface="DejaVu Sans"/>
              </a:defRPr>
            </a:pPr>
            <a:r>
              <a:t>COMET-XAI LITE</a:t>
            </a:r>
          </a:p>
        </p:txBody>
      </p:sp>
      <p:sp>
        <p:nvSpPr>
          <p:cNvPr id="5" name="TextBox 4"/>
          <p:cNvSpPr txBox="1"/>
          <p:nvPr/>
        </p:nvSpPr>
        <p:spPr>
          <a:xfrm>
            <a:off x="502920" y="667512"/>
            <a:ext cx="11155680" cy="777240"/>
          </a:xfrm>
          <a:prstGeom prst="rect">
            <a:avLst/>
          </a:prstGeom>
          <a:noFill/>
        </p:spPr>
        <p:txBody>
          <a:bodyPr wrap="none" lIns="0" rIns="0" tIns="0" bIns="0">
            <a:spAutoFit/>
          </a:bodyPr>
          <a:lstStyle/>
          <a:p>
            <a:pPr>
              <a:lnSpc>
                <a:spcPts val="3538"/>
              </a:lnSpc>
              <a:spcBef>
                <a:spcPts val="0"/>
              </a:spcBef>
              <a:spcAft>
                <a:spcPts val="0"/>
              </a:spcAft>
              <a:defRPr sz="2900" b="1">
                <a:solidFill>
                  <a:srgbClr val="11283F"/>
                </a:solidFill>
                <a:latin typeface="DejaVu Sans"/>
              </a:defRPr>
            </a:pPr>
            <a:r>
              <a:t>Pilot results and eight-week validation plan</a:t>
            </a:r>
          </a:p>
        </p:txBody>
      </p:sp>
      <p:sp>
        <p:nvSpPr>
          <p:cNvPr id="6" name="Rectangle 5"/>
          <p:cNvSpPr/>
          <p:nvPr/>
        </p:nvSpPr>
        <p:spPr>
          <a:xfrm>
            <a:off x="502920" y="6364224"/>
            <a:ext cx="11155680" cy="13716"/>
          </a:xfrm>
          <a:prstGeom prst="rect">
            <a:avLst/>
          </a:prstGeom>
          <a:solidFill>
            <a:srgbClr val="CC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0424160" cy="201168"/>
          </a:xfrm>
          <a:prstGeom prst="rect">
            <a:avLst/>
          </a:prstGeom>
          <a:noFill/>
        </p:spPr>
        <p:txBody>
          <a:bodyPr wrap="none" lIns="0" rIns="0" tIns="0" bIns="0">
            <a:spAutoFit/>
          </a:bodyPr>
          <a:lstStyle/>
          <a:p>
            <a:pPr>
              <a:lnSpc>
                <a:spcPts val="1098"/>
              </a:lnSpc>
              <a:spcBef>
                <a:spcPts val="0"/>
              </a:spcBef>
              <a:spcAft>
                <a:spcPts val="0"/>
              </a:spcAft>
              <a:defRPr sz="900" b="0">
                <a:solidFill>
                  <a:srgbClr val="53667A"/>
                </a:solidFill>
                <a:latin typeface="DejaVu Sans"/>
              </a:defRPr>
            </a:pPr>
            <a:r>
              <a:t>Measured run: code/results/pilot.json | 10 bootstrap fits; 45 dependent pairs; 30 random partitions | Preliminary only</a:t>
            </a:r>
          </a:p>
        </p:txBody>
      </p:sp>
      <p:sp>
        <p:nvSpPr>
          <p:cNvPr id="8" name="TextBox 7"/>
          <p:cNvSpPr txBox="1"/>
          <p:nvPr/>
        </p:nvSpPr>
        <p:spPr>
          <a:xfrm>
            <a:off x="11064240" y="6455664"/>
            <a:ext cx="457200" cy="228600"/>
          </a:xfrm>
          <a:prstGeom prst="rect">
            <a:avLst/>
          </a:prstGeom>
          <a:noFill/>
        </p:spPr>
        <p:txBody>
          <a:bodyPr wrap="none" lIns="0" rIns="0" tIns="0" bIns="0">
            <a:spAutoFit/>
          </a:bodyPr>
          <a:lstStyle/>
          <a:p>
            <a:pPr>
              <a:lnSpc>
                <a:spcPts val="1220"/>
              </a:lnSpc>
              <a:spcBef>
                <a:spcPts val="0"/>
              </a:spcBef>
              <a:spcAft>
                <a:spcPts val="0"/>
              </a:spcAft>
              <a:defRPr sz="1000" b="0">
                <a:solidFill>
                  <a:srgbClr val="53667A"/>
                </a:solidFill>
                <a:latin typeface="DejaVu Sans"/>
              </a:defRPr>
            </a:pPr>
            <a:r>
              <a:t>4</a:t>
            </a:r>
          </a:p>
        </p:txBody>
      </p:sp>
      <p:sp>
        <p:nvSpPr>
          <p:cNvPr id="9" name="TextBox 8"/>
          <p:cNvSpPr txBox="1"/>
          <p:nvPr/>
        </p:nvSpPr>
        <p:spPr>
          <a:xfrm>
            <a:off x="594360" y="1508760"/>
            <a:ext cx="5577840" cy="393192"/>
          </a:xfrm>
          <a:prstGeom prst="rect">
            <a:avLst/>
          </a:prstGeom>
          <a:noFill/>
        </p:spPr>
        <p:txBody>
          <a:bodyPr wrap="none" lIns="0" rIns="0" tIns="0" bIns="0">
            <a:spAutoFit/>
          </a:bodyPr>
          <a:lstStyle/>
          <a:p>
            <a:pPr>
              <a:lnSpc>
                <a:spcPts val="2318"/>
              </a:lnSpc>
              <a:spcBef>
                <a:spcPts val="0"/>
              </a:spcBef>
              <a:spcAft>
                <a:spcPts val="0"/>
              </a:spcAft>
              <a:defRPr sz="1900" b="1">
                <a:solidFill>
                  <a:srgbClr val="11283F"/>
                </a:solidFill>
                <a:latin typeface="DejaVu Sans"/>
              </a:defRPr>
            </a:pPr>
            <a:r>
              <a:t>11 groups; matched group sizes</a:t>
            </a:r>
          </a:p>
        </p:txBody>
      </p:sp>
      <p:sp>
        <p:nvSpPr>
          <p:cNvPr id="10" name="TextBox 9"/>
          <p:cNvSpPr txBox="1"/>
          <p:nvPr/>
        </p:nvSpPr>
        <p:spPr>
          <a:xfrm>
            <a:off x="594360" y="2066543"/>
            <a:ext cx="5212080" cy="274320"/>
          </a:xfrm>
          <a:prstGeom prst="rect">
            <a:avLst/>
          </a:prstGeom>
          <a:noFill/>
        </p:spPr>
        <p:txBody>
          <a:bodyPr wrap="none" lIns="0" rIns="0" tIns="0" bIns="0">
            <a:spAutoFit/>
          </a:bodyPr>
          <a:lstStyle/>
          <a:p>
            <a:pPr>
              <a:lnSpc>
                <a:spcPts val="1830"/>
              </a:lnSpc>
              <a:spcBef>
                <a:spcPts val="0"/>
              </a:spcBef>
              <a:spcAft>
                <a:spcPts val="0"/>
              </a:spcAft>
              <a:defRPr sz="1500" b="0">
                <a:solidFill>
                  <a:srgbClr val="53667A"/>
                </a:solidFill>
                <a:latin typeface="DejaVu Sans"/>
              </a:defRPr>
            </a:pPr>
            <a:r>
              <a:t>Correlation groups</a:t>
            </a:r>
          </a:p>
        </p:txBody>
      </p:sp>
      <p:sp>
        <p:nvSpPr>
          <p:cNvPr id="11" name="Rectangle 10"/>
          <p:cNvSpPr/>
          <p:nvPr/>
        </p:nvSpPr>
        <p:spPr>
          <a:xfrm>
            <a:off x="594360" y="2414015"/>
            <a:ext cx="4846320" cy="21945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414015"/>
            <a:ext cx="4477999" cy="21945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258568"/>
            <a:ext cx="640080" cy="457200"/>
          </a:xfrm>
          <a:prstGeom prst="rect">
            <a:avLst/>
          </a:prstGeom>
          <a:noFill/>
        </p:spPr>
        <p:txBody>
          <a:bodyPr wrap="none" lIns="0" rIns="0" tIns="0" bIns="0">
            <a:spAutoFit/>
          </a:bodyPr>
          <a:lstStyle/>
          <a:p>
            <a:pPr>
              <a:lnSpc>
                <a:spcPts val="2196"/>
              </a:lnSpc>
              <a:spcBef>
                <a:spcPts val="0"/>
              </a:spcBef>
              <a:spcAft>
                <a:spcPts val="0"/>
              </a:spcAft>
              <a:defRPr sz="1800" b="1">
                <a:solidFill>
                  <a:srgbClr val="087F8C"/>
                </a:solidFill>
                <a:latin typeface="DejaVu Sans"/>
              </a:defRPr>
            </a:pPr>
            <a:r>
              <a:t>0.924</a:t>
            </a:r>
          </a:p>
        </p:txBody>
      </p:sp>
      <p:sp>
        <p:nvSpPr>
          <p:cNvPr id="14" name="TextBox 13"/>
          <p:cNvSpPr txBox="1"/>
          <p:nvPr/>
        </p:nvSpPr>
        <p:spPr>
          <a:xfrm>
            <a:off x="594360" y="2816352"/>
            <a:ext cx="5212080" cy="274320"/>
          </a:xfrm>
          <a:prstGeom prst="rect">
            <a:avLst/>
          </a:prstGeom>
          <a:noFill/>
        </p:spPr>
        <p:txBody>
          <a:bodyPr wrap="none" lIns="0" rIns="0" tIns="0" bIns="0">
            <a:spAutoFit/>
          </a:bodyPr>
          <a:lstStyle/>
          <a:p>
            <a:pPr>
              <a:lnSpc>
                <a:spcPts val="1830"/>
              </a:lnSpc>
              <a:spcBef>
                <a:spcPts val="0"/>
              </a:spcBef>
              <a:spcAft>
                <a:spcPts val="0"/>
              </a:spcAft>
              <a:defRPr sz="1500" b="0">
                <a:solidFill>
                  <a:srgbClr val="53667A"/>
                </a:solidFill>
                <a:latin typeface="DejaVu Sans"/>
              </a:defRPr>
            </a:pPr>
            <a:r>
              <a:t>Matched random groups</a:t>
            </a:r>
          </a:p>
        </p:txBody>
      </p:sp>
      <p:sp>
        <p:nvSpPr>
          <p:cNvPr id="15" name="Rectangle 14"/>
          <p:cNvSpPr/>
          <p:nvPr/>
        </p:nvSpPr>
        <p:spPr>
          <a:xfrm>
            <a:off x="594360" y="3163824"/>
            <a:ext cx="4846320" cy="219456"/>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163824"/>
            <a:ext cx="4182858" cy="219456"/>
          </a:xfrm>
          <a:prstGeom prst="rect">
            <a:avLst/>
          </a:prstGeom>
          <a:solidFill>
            <a:srgbClr val="536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2120" y="3008376"/>
            <a:ext cx="640080" cy="457200"/>
          </a:xfrm>
          <a:prstGeom prst="rect">
            <a:avLst/>
          </a:prstGeom>
          <a:noFill/>
        </p:spPr>
        <p:txBody>
          <a:bodyPr wrap="none" lIns="0" rIns="0" tIns="0" bIns="0">
            <a:spAutoFit/>
          </a:bodyPr>
          <a:lstStyle/>
          <a:p>
            <a:pPr>
              <a:lnSpc>
                <a:spcPts val="2196"/>
              </a:lnSpc>
              <a:spcBef>
                <a:spcPts val="0"/>
              </a:spcBef>
              <a:spcAft>
                <a:spcPts val="0"/>
              </a:spcAft>
              <a:defRPr sz="1800" b="1">
                <a:solidFill>
                  <a:srgbClr val="53667A"/>
                </a:solidFill>
                <a:latin typeface="DejaVu Sans"/>
              </a:defRPr>
            </a:pPr>
            <a:r>
              <a:t>0.863</a:t>
            </a:r>
          </a:p>
        </p:txBody>
      </p:sp>
      <p:sp>
        <p:nvSpPr>
          <p:cNvPr id="18" name="TextBox 17"/>
          <p:cNvSpPr txBox="1"/>
          <p:nvPr/>
        </p:nvSpPr>
        <p:spPr>
          <a:xfrm>
            <a:off x="594360" y="3703320"/>
            <a:ext cx="5486400" cy="548640"/>
          </a:xfrm>
          <a:prstGeom prst="rect">
            <a:avLst/>
          </a:prstGeom>
          <a:noFill/>
        </p:spPr>
        <p:txBody>
          <a:bodyPr wrap="none" lIns="0" rIns="0" tIns="0" bIns="0">
            <a:spAutoFit/>
          </a:bodyPr>
          <a:lstStyle/>
          <a:p>
            <a:pPr>
              <a:lnSpc>
                <a:spcPts val="2684"/>
              </a:lnSpc>
              <a:spcBef>
                <a:spcPts val="0"/>
              </a:spcBef>
              <a:spcAft>
                <a:spcPts val="0"/>
              </a:spcAft>
              <a:defRPr sz="2200" b="1">
                <a:solidFill>
                  <a:srgbClr val="087F8C"/>
                </a:solidFill>
                <a:latin typeface="DejaVu Sans"/>
              </a:defRPr>
            </a:pPr>
            <a:r>
              <a:t>Controlled RBO difference: +0.061</a:t>
            </a:r>
          </a:p>
        </p:txBody>
      </p:sp>
      <p:sp>
        <p:nvSpPr>
          <p:cNvPr id="19" name="TextBox 18"/>
          <p:cNvSpPr txBox="1"/>
          <p:nvPr/>
        </p:nvSpPr>
        <p:spPr>
          <a:xfrm>
            <a:off x="594360" y="4416552"/>
            <a:ext cx="5486400" cy="914400"/>
          </a:xfrm>
          <a:prstGeom prst="rect">
            <a:avLst/>
          </a:prstGeom>
          <a:noFill/>
        </p:spPr>
        <p:txBody>
          <a:bodyPr wrap="none" lIns="0" rIns="0" tIns="0" bIns="0">
            <a:spAutoFit/>
          </a:bodyPr>
          <a:lstStyle/>
          <a:p>
            <a:pPr>
              <a:lnSpc>
                <a:spcPts val="1952"/>
              </a:lnSpc>
              <a:spcBef>
                <a:spcPts val="0"/>
              </a:spcBef>
              <a:spcAft>
                <a:spcPts val="0"/>
              </a:spcAft>
              <a:defRPr sz="1600" b="0">
                <a:solidFill>
                  <a:srgbClr val="11283F"/>
                </a:solidFill>
                <a:latin typeface="DejaVu Sans"/>
              </a:defRPr>
            </a:pPr>
            <a:r>
              <a:t>30,000 rows • 24k train / 6k test</a:t>
            </a:r>
          </a:p>
          <a:p>
            <a:pPr>
              <a:lnSpc>
                <a:spcPts val="1952"/>
              </a:lnSpc>
              <a:spcBef>
                <a:spcPts val="0"/>
              </a:spcBef>
              <a:spcAft>
                <a:spcPts val="0"/>
              </a:spcAft>
              <a:defRPr sz="1600" b="0">
                <a:solidFill>
                  <a:srgbClr val="11283F"/>
                </a:solidFill>
                <a:latin typeface="DejaVu Sans"/>
              </a:defRPr>
            </a:pPr>
            <a:r>
              <a:t>AP 0.489 • AUC 0.713 • Brier 0.148</a:t>
            </a:r>
          </a:p>
          <a:p>
            <a:pPr>
              <a:lnSpc>
                <a:spcPts val="1952"/>
              </a:lnSpc>
              <a:spcBef>
                <a:spcPts val="0"/>
              </a:spcBef>
              <a:spcAft>
                <a:spcPts val="0"/>
              </a:spcAft>
              <a:defRPr sz="1600" b="0">
                <a:solidFill>
                  <a:srgbClr val="11283F"/>
                </a:solidFill>
                <a:latin typeface="DejaVu Sans"/>
              </a:defRPr>
            </a:pPr>
            <a:r>
              <a:t>9 checks pass; deterministic replay matches</a:t>
            </a:r>
          </a:p>
        </p:txBody>
      </p:sp>
      <p:sp>
        <p:nvSpPr>
          <p:cNvPr id="20" name="Rectangle 19"/>
          <p:cNvSpPr/>
          <p:nvPr/>
        </p:nvSpPr>
        <p:spPr>
          <a:xfrm>
            <a:off x="6446520" y="1508760"/>
            <a:ext cx="5074920" cy="3611880"/>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1508760"/>
            <a:ext cx="41148" cy="36118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11112" y="1655063"/>
            <a:ext cx="4745736" cy="411480"/>
          </a:xfrm>
          <a:prstGeom prst="rect">
            <a:avLst/>
          </a:prstGeom>
          <a:noFill/>
        </p:spPr>
        <p:txBody>
          <a:bodyPr wrap="none" lIns="0" rIns="0" tIns="0" bIns="0">
            <a:spAutoFit/>
          </a:bodyPr>
          <a:lstStyle/>
          <a:p>
            <a:pPr>
              <a:lnSpc>
                <a:spcPts val="2074"/>
              </a:lnSpc>
              <a:spcBef>
                <a:spcPts val="0"/>
              </a:spcBef>
              <a:spcAft>
                <a:spcPts val="0"/>
              </a:spcAft>
              <a:defRPr sz="1700" b="1">
                <a:solidFill>
                  <a:srgbClr val="087F8C"/>
                </a:solidFill>
                <a:latin typeface="DejaVu Sans"/>
              </a:defRPr>
            </a:pPr>
            <a:r>
              <a:t>EIGHT-WEEK VALIDATION</a:t>
            </a:r>
          </a:p>
        </p:txBody>
      </p:sp>
      <p:sp>
        <p:nvSpPr>
          <p:cNvPr id="23" name="TextBox 22"/>
          <p:cNvSpPr txBox="1"/>
          <p:nvPr/>
        </p:nvSpPr>
        <p:spPr>
          <a:xfrm>
            <a:off x="6611112" y="2176272"/>
            <a:ext cx="4745736" cy="2852928"/>
          </a:xfrm>
          <a:prstGeom prst="rect">
            <a:avLst/>
          </a:prstGeom>
          <a:noFill/>
        </p:spPr>
        <p:txBody>
          <a:bodyPr wrap="none" lIns="0" rIns="0" tIns="0" bIns="0">
            <a:spAutoFit/>
          </a:bodyPr>
          <a:lstStyle/>
          <a:p>
            <a:pPr>
              <a:lnSpc>
                <a:spcPts val="2318"/>
              </a:lnSpc>
              <a:spcBef>
                <a:spcPts val="0"/>
              </a:spcBef>
              <a:spcAft>
                <a:spcPts val="0"/>
              </a:spcAft>
              <a:defRPr sz="1900" b="0">
                <a:solidFill>
                  <a:srgbClr val="11283F"/>
                </a:solidFill>
                <a:latin typeface="DejaVu Sans"/>
              </a:defRPr>
            </a:pPr>
            <a:r>
              <a:t>W1–2 Data + synthetic oracle</a:t>
            </a:r>
          </a:p>
          <a:p>
            <a:pPr>
              <a:lnSpc>
                <a:spcPts val="2318"/>
              </a:lnSpc>
              <a:spcBef>
                <a:spcPts val="0"/>
              </a:spcBef>
              <a:spcAft>
                <a:spcPts val="0"/>
              </a:spcAft>
              <a:defRPr sz="1900" b="0">
                <a:solidFill>
                  <a:srgbClr val="11283F"/>
                </a:solidFill>
                <a:latin typeface="DejaVu Sans"/>
              </a:defRPr>
            </a:pPr>
            <a:r>
              <a:t>W3–4 Tree SHAP + matched controls</a:t>
            </a:r>
          </a:p>
          <a:p>
            <a:pPr>
              <a:lnSpc>
                <a:spcPts val="2318"/>
              </a:lnSpc>
              <a:spcBef>
                <a:spcPts val="0"/>
              </a:spcBef>
              <a:spcAft>
                <a:spcPts val="0"/>
              </a:spcAft>
              <a:defRPr sz="1900" b="0">
                <a:solidFill>
                  <a:srgbClr val="11283F"/>
                </a:solidFill>
                <a:latin typeface="DejaVu Sans"/>
              </a:defRPr>
            </a:pPr>
            <a:r>
              <a:t>W5–6 Fidelity + replication</a:t>
            </a:r>
          </a:p>
          <a:p>
            <a:pPr>
              <a:lnSpc>
                <a:spcPts val="2318"/>
              </a:lnSpc>
              <a:spcBef>
                <a:spcPts val="0"/>
              </a:spcBef>
              <a:spcAft>
                <a:spcPts val="0"/>
              </a:spcAft>
              <a:defRPr sz="1900" b="0">
                <a:solidFill>
                  <a:srgbClr val="11283F"/>
                </a:solidFill>
                <a:latin typeface="DejaVu Sans"/>
              </a:defRPr>
            </a:pPr>
            <a:r>
              <a:t>W7–8 Paper + advisor review</a:t>
            </a:r>
          </a:p>
        </p:txBody>
      </p:sp>
      <p:sp>
        <p:nvSpPr>
          <p:cNvPr id="24" name="Rectangle 23"/>
          <p:cNvSpPr/>
          <p:nvPr/>
        </p:nvSpPr>
        <p:spPr>
          <a:xfrm>
            <a:off x="548640" y="5486400"/>
            <a:ext cx="10972800" cy="576072"/>
          </a:xfrm>
          <a:prstGeom prst="rect">
            <a:avLst/>
          </a:prstGeom>
          <a:solidFill>
            <a:srgbClr val="FFF2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614416"/>
            <a:ext cx="10607040" cy="329184"/>
          </a:xfrm>
          <a:prstGeom prst="rect">
            <a:avLst/>
          </a:prstGeom>
          <a:noFill/>
        </p:spPr>
        <p:txBody>
          <a:bodyPr wrap="none" lIns="0" rIns="0" tIns="0" bIns="0">
            <a:spAutoFit/>
          </a:bodyPr>
          <a:lstStyle/>
          <a:p>
            <a:pPr>
              <a:lnSpc>
                <a:spcPts val="1830"/>
              </a:lnSpc>
              <a:spcBef>
                <a:spcPts val="0"/>
              </a:spcBef>
              <a:spcAft>
                <a:spcPts val="0"/>
              </a:spcAft>
              <a:defRPr sz="1500" b="1">
                <a:solidFill>
                  <a:srgbClr val="BC7412"/>
                </a:solidFill>
                <a:latin typeface="DejaVu Sans"/>
              </a:defRPr>
            </a:pPr>
            <a:r>
              <a:t>Limit: one split, logistic model only. No significance, causal recourse or publication 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