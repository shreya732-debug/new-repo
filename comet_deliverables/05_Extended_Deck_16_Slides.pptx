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60 seconds. My project asks whether grouping correlated inputs makes model explanations more reliable, or only makes them look more consistent. Imagine six monthly bill amounts: models can distribute importance among these related measurements differently after retraining. I want to distinguish a useful group summary from a summary that hides information. I narrowed the initial COMET proposal because temporal recourse, conformal margins and feature selection would require different evidence. The scope is now feasible in eight weeks on a laptop. The work completed is the proposal audit, literature review and a reproducible logistic-regression pilot; the full experiment is not complete. Name and roll-number fields are editable. Do not call this a finished paper or a new Shapley algorithm.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SHAP explains a specified model output using a defined coalition-value game. Krishna and colleagues show that different explanation methods can disagree. groupShapley already explains groups, so grouping is not my invention. I also found a 2025 ITNAC paper on feature grouping for robust SHAP and a 2026 paper on agreement and faithfulness-weighted consensus. Their full methods need to be compared before a novelty claim. Our proposed question is whether correlation grouping beats random partitions with the same group sizes, while preserving fidelity and internal information. We will use synthetic cases with a known explanation game and public credit data. The contribution is an empirical evaluation protocol and findings, not an assertion that combining existing tools creates a new theory. Primary links: https://arxiv.org/abs/2106.12228 ; https://arxiv.org/abs/2202.01602 ; https://doi.org/10.1109/ITNAC66378.2025.11302604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90 seconds. We split data before fitting preprocessing or clusters. We retrain several models and explain the same held-out individuals. Each explanation is a vector of contributions in a stated output scale. We summarize either individual features or groups formed from training correlation. We compare the resulting stability to random groups with exactly the same number and sizes of groups. That controls a major shorter-list artefact. Next, we examine cancellation, synthetic exact group values and perturbation fidelity so a stable summary cannot simply hide opposing components. The initial model is logistic regression, where interventional logit contributions have an exact closed form. A small tree model and TreeSHAP are planned. The primary partition stays fixed across retraining; reclustering uncertainty is a separate analysis. We keep data, explainer and retraining randomness distinct. Removing model features, causal recourse and drift guarantees are outside the minimum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90 seconds. The official UCI dataset contains 30,000 rows. Our pilot used 24,000 training and 6,000 test rows; 500 held-out rows were explained for ten bootstrap logistic models. Correlation grouping produced eleven groups from nineteen inputs. Its ranking RBO was .924, compared with .863 for random partitions with the same sizes: an absolute difference of .061. This is not a 6.1 percent improvement in correctness, and it is not a significance claim. Predictive metrics were AP .489, ROC-AUC .713 and Brier .148. Nine mathematical/data-contract checks pass; a repeated run reproduces deterministic outputs. The main limitation is one split and one simple model, including numeric handling of repayment-status codes. The next steps are synthetic ground truth, fidelity/cancellation analysis, a tree model and additional splits/data. I would like approval for this narrowed scope and feedback on whether an empirical evaluation paper meets project requirements. Target a future ICAIF call or a suitable ECML PKDD workshop, with final venue dependent on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asked to define terms. A feature is an input column, a label is the observed outcome, and a model is a learned mapping. Local attribution concerns one row; global attribution aggregates rows. Stability, fidelity and usefulness are distinct. The full study guide begins before these terms and includes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manual contains many sensible corrections but is not fully reliable. Lowering rho merges more groups, not fewer. The proposed quantile code can select the wrong order statistic. Alpha=0 is not a no-margin setting. Mean probability is not sigmoid of mean logit. An additive model does not automatically imply the needed additive conditional attribution game. PFI need not always understate correlated features. Historical repayment data do not support feasible causal recourse. These are reasons for a narrower design, not reasons to discard all explainability research.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score=3*x1+2*x2, reference means 1 and 2 give base 7. At x=(2,5), the feature differences contribute 3 and 6. They sum to the nine-point score difference, and base plus contributions equals sixteen. In logistic regression this is the logit score, not probability. The actual pilot calculates the background mean after each model’s fitted preprocessor and checks this identity for all 500 audit cases. This verifies implementation of a stated attribution, not that the model is causally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different issues are shown. Cancellation: +5 and minus 4.8 net to .2, while the unsigned total is 9.8. Net contribution is legitimate but can hide strong opposing components. Game semantics: in a three-player unanimity game every feature gets one third; summing A and B gives two thirds. Treat AB as one group and C as another, and each group gets one half. So the order of grouping and Shapley computation matters. We retain within-group drill-down and use exact small-game values as an oracle.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dataset was downloaded during this task and hashed. Ten bootstrap models share the same held-out test set. Forty-five pairwise comparisons share models and are not independent experimental units. Feature RBO .776 has nineteen items and group RBO .924 has eleven, so that raw difference is not the main controlled comparison. Random groups preserve the exact group sizes and average .863. This pilot does not implement the full proposed train/development/test protocol; it uses a prespecified 80/20 split without tuning. Numeric repayment-status encoding remains a known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final study, save stratified train/development/test IDs. Train-only transforms and clusters prevent leakage. The primary experiment freezes the correlation partition while retraining models. A separate reclustering analysis measures group discovery uncertainty. A separate explainer-repeat experiment measures sampling variance. Add a synthetic known-game oracle and one tree family. HELOC is conditional on obtaining a verified release and dictionary. The study can succeed as a negative-result evaluation if gains vanish under controls; do not keep expanding modules to force a positive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RBO is the primary ranking stability measure. The main effect subtracts the mean of matched random partitions, but this is still a descriptive effect until replicated. Cancellation captures net-versus-unsigned attribution compression. Synthetic oracle error compares against a defined exact game, not assumed causal truth. AP, AUC and Brier validate the predictor; they do not validate explanations. Borrower confidence intervals with fixed models are conditional intervals, not a universal measure of model uncertainty. Report all denominators and failures.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project must be able to fail its hypothesis. If matched random groups are just as stable, there is little evidence that correlation-specific grouping is the cause. If group summaries hide major opposing contributions or fail known-game fidelity checks, stability is insufficient. If benefit exists only in one model/split, generality is weak. If closest prior work already includes the proposed controls, novelty must be revised. These cases can support a careful replication or limitation study, but they do not guarantee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demo.py, test_demo.py and results/pilot.json. Explain the data exclusions and split, the linear attribution formula, and the matched random partitions. Run the tests; nine should pass. Open the saved result and identify model/data counts and limitations. The quantile helper is only an audit correction and is not used by the main pipeline. The starter includes a downloader and Colab notebook, but no personal Colab account run has been performed. Be candid about AI assistance and your responsibility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learn and reproduce baseline; week 2 finish data cards and synthetic oracle. Weeks 3 and 4 add the tree explanation and controlled stability experiment. Weeks 5 and 6 assess fidelity, cancellation and replication. Weeks 7 and 8 write and independently replay the work with advisor feedback. Optional features are dropped if core gates fail. Use bounded Cursor tasks; do not ask it to generate a whole paper and system in one pass. Free Colab CPU is sufficient for the scoped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ICAIF is the best topical fit among these targets for credit explainability, but the 2026 main submissions are closed and workshop submissions closed October 12. Its 2026 event is November 14 to 17 in Milan. We would target a future call, plausibly 2027, after verifying the actual CFP. An appropriate ECML PKDD workshop may fit an evaluation/reproducibility study, but its archival publication policy must satisfy DTU requirements. PAKDD is a stretch if the methodological contribution becomes strong. EJOR, DSS, ESWA and KBS listed in the old manual are journals, not conferences. There is no guarantee of acceptance and no fee/payment/submission has been made.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closest sources rather than memorizing citation counts. SHAP defines the attribution framework; Krishna documents disagreement; groupShapley is the central grouping baseline; Chen and colleagues explain model-versus-data semantics. The 2025 feature-grouping robustness paper and 2026 consensus/agreement paper require closest-work comparison before claiming novelty. Do not claim to have reviewed their entire full text if only metadata or abstract was accessible. The research dossier includes more than thirty linked primary sources and distinguishes unresolved references.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Stability without concealment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Proposal + executed preliminary pilot | Core question inspired by Krishna et al. and groupShapley [S03, S04]</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a:t>
            </a:r>
          </a:p>
        </p:txBody>
      </p:sp>
      <p:sp>
        <p:nvSpPr>
          <p:cNvPr id="9" name="TextBox 8"/>
          <p:cNvSpPr txBox="1"/>
          <p:nvPr/>
        </p:nvSpPr>
        <p:spPr>
          <a:xfrm>
            <a:off x="548640" y="1508760"/>
            <a:ext cx="10881360" cy="685800"/>
          </a:xfrm>
          <a:prstGeom prst="rect">
            <a:avLst/>
          </a:prstGeom>
          <a:noFill/>
        </p:spPr>
        <p:txBody>
          <a:bodyPr wrap="none" lIns="0" rIns="0" tIns="0" bIns="0">
            <a:spAutoFit/>
          </a:bodyPr>
          <a:lstStyle/>
          <a:p>
            <a:pPr>
              <a:lnSpc>
                <a:spcPts val="2684"/>
              </a:lnSpc>
              <a:spcBef>
                <a:spcPts val="0"/>
              </a:spcBef>
              <a:spcAft>
                <a:spcPts val="0"/>
              </a:spcAft>
              <a:defRPr sz="2200" b="1">
                <a:solidFill>
                  <a:srgbClr val="11283F"/>
                </a:solidFill>
                <a:latin typeface="DejaVu Sans"/>
              </a:defRPr>
            </a:pPr>
            <a:r>
              <a:t>When does grouping correlated inputs improve explanation stability</a:t>
            </a:r>
          </a:p>
          <a:p>
            <a:pPr>
              <a:lnSpc>
                <a:spcPts val="2684"/>
              </a:lnSpc>
              <a:spcBef>
                <a:spcPts val="0"/>
              </a:spcBef>
              <a:spcAft>
                <a:spcPts val="0"/>
              </a:spcAft>
              <a:defRPr sz="2200" b="1">
                <a:solidFill>
                  <a:srgbClr val="11283F"/>
                </a:solidFill>
                <a:latin typeface="DejaVu Sans"/>
              </a:defRPr>
            </a:pPr>
            <a:r>
              <a:t>without hiding useful information?</a:t>
            </a:r>
          </a:p>
        </p:txBody>
      </p:sp>
      <p:sp>
        <p:nvSpPr>
          <p:cNvPr id="10" name="Rectangle 9"/>
          <p:cNvSpPr/>
          <p:nvPr/>
        </p:nvSpPr>
        <p:spPr>
          <a:xfrm>
            <a:off x="548640" y="2560320"/>
            <a:ext cx="3566160" cy="2148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560320"/>
            <a:ext cx="41148" cy="2148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0662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THE PROBLEM</a:t>
            </a:r>
          </a:p>
        </p:txBody>
      </p:sp>
      <p:sp>
        <p:nvSpPr>
          <p:cNvPr id="13" name="TextBox 12"/>
          <p:cNvSpPr txBox="1"/>
          <p:nvPr/>
        </p:nvSpPr>
        <p:spPr>
          <a:xfrm>
            <a:off x="713232" y="3227832"/>
            <a:ext cx="3236976" cy="1389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Similar predictions can</a:t>
            </a:r>
          </a:p>
          <a:p>
            <a:pPr>
              <a:lnSpc>
                <a:spcPts val="2440"/>
              </a:lnSpc>
              <a:spcBef>
                <a:spcPts val="0"/>
              </a:spcBef>
              <a:spcAft>
                <a:spcPts val="0"/>
              </a:spcAft>
              <a:defRPr sz="2000" b="0">
                <a:solidFill>
                  <a:srgbClr val="11283F"/>
                </a:solidFill>
                <a:latin typeface="DejaVu Sans"/>
              </a:defRPr>
            </a:pPr>
            <a:r>
              <a:t>produce different</a:t>
            </a:r>
          </a:p>
          <a:p>
            <a:pPr>
              <a:lnSpc>
                <a:spcPts val="2440"/>
              </a:lnSpc>
              <a:spcBef>
                <a:spcPts val="0"/>
              </a:spcBef>
              <a:spcAft>
                <a:spcPts val="0"/>
              </a:spcAft>
              <a:defRPr sz="2000" b="0">
                <a:solidFill>
                  <a:srgbClr val="11283F"/>
                </a:solidFill>
                <a:latin typeface="DejaVu Sans"/>
              </a:defRPr>
            </a:pPr>
            <a:r>
              <a:t>feature rankings after</a:t>
            </a:r>
          </a:p>
          <a:p>
            <a:pPr>
              <a:lnSpc>
                <a:spcPts val="2440"/>
              </a:lnSpc>
              <a:spcBef>
                <a:spcPts val="0"/>
              </a:spcBef>
              <a:spcAft>
                <a:spcPts val="0"/>
              </a:spcAft>
              <a:defRPr sz="2000" b="0">
                <a:solidFill>
                  <a:srgbClr val="11283F"/>
                </a:solidFill>
                <a:latin typeface="DejaVu Sans"/>
              </a:defRPr>
            </a:pPr>
            <a:r>
              <a:t>retraining.</a:t>
            </a:r>
          </a:p>
        </p:txBody>
      </p:sp>
      <p:sp>
        <p:nvSpPr>
          <p:cNvPr id="14" name="Rectangle 13"/>
          <p:cNvSpPr/>
          <p:nvPr/>
        </p:nvSpPr>
        <p:spPr>
          <a:xfrm>
            <a:off x="4297680" y="2560320"/>
            <a:ext cx="3566160" cy="2148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560320"/>
            <a:ext cx="41148" cy="2148840"/>
          </a:xfrm>
          <a:prstGeom prst="rect">
            <a:avLst/>
          </a:prstGeom>
          <a:solidFill>
            <a:srgbClr val="BC7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270662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BC7412"/>
                </a:solidFill>
                <a:latin typeface="DejaVu Sans"/>
              </a:defRPr>
            </a:pPr>
            <a:r>
              <a:t>THE TRAP</a:t>
            </a:r>
          </a:p>
        </p:txBody>
      </p:sp>
      <p:sp>
        <p:nvSpPr>
          <p:cNvPr id="17" name="TextBox 16"/>
          <p:cNvSpPr txBox="1"/>
          <p:nvPr/>
        </p:nvSpPr>
        <p:spPr>
          <a:xfrm>
            <a:off x="4462272" y="3227832"/>
            <a:ext cx="3236976" cy="1389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Shorter lists and random</a:t>
            </a:r>
          </a:p>
          <a:p>
            <a:pPr>
              <a:lnSpc>
                <a:spcPts val="2440"/>
              </a:lnSpc>
              <a:spcBef>
                <a:spcPts val="0"/>
              </a:spcBef>
              <a:spcAft>
                <a:spcPts val="0"/>
              </a:spcAft>
              <a:defRPr sz="2000" b="0">
                <a:solidFill>
                  <a:srgbClr val="11283F"/>
                </a:solidFill>
                <a:latin typeface="DejaVu Sans"/>
              </a:defRPr>
            </a:pPr>
            <a:r>
              <a:t>grouping can also</a:t>
            </a:r>
          </a:p>
          <a:p>
            <a:pPr>
              <a:lnSpc>
                <a:spcPts val="2440"/>
              </a:lnSpc>
              <a:spcBef>
                <a:spcPts val="0"/>
              </a:spcBef>
              <a:spcAft>
                <a:spcPts val="0"/>
              </a:spcAft>
              <a:defRPr sz="2000" b="0">
                <a:solidFill>
                  <a:srgbClr val="11283F"/>
                </a:solidFill>
                <a:latin typeface="DejaVu Sans"/>
              </a:defRPr>
            </a:pPr>
            <a:r>
              <a:t>appear more stable.</a:t>
            </a:r>
          </a:p>
        </p:txBody>
      </p:sp>
      <p:sp>
        <p:nvSpPr>
          <p:cNvPr id="18" name="Rectangle 17"/>
          <p:cNvSpPr/>
          <p:nvPr/>
        </p:nvSpPr>
        <p:spPr>
          <a:xfrm>
            <a:off x="8046720" y="2560320"/>
            <a:ext cx="3566160" cy="2148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560320"/>
            <a:ext cx="41148" cy="2148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70662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OUR TEST</a:t>
            </a:r>
          </a:p>
        </p:txBody>
      </p:sp>
      <p:sp>
        <p:nvSpPr>
          <p:cNvPr id="21" name="TextBox 20"/>
          <p:cNvSpPr txBox="1"/>
          <p:nvPr/>
        </p:nvSpPr>
        <p:spPr>
          <a:xfrm>
            <a:off x="8211312" y="3227832"/>
            <a:ext cx="3236976" cy="1389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Compare matched</a:t>
            </a:r>
          </a:p>
          <a:p>
            <a:pPr>
              <a:lnSpc>
                <a:spcPts val="2440"/>
              </a:lnSpc>
              <a:spcBef>
                <a:spcPts val="0"/>
              </a:spcBef>
              <a:spcAft>
                <a:spcPts val="0"/>
              </a:spcAft>
              <a:defRPr sz="2000" b="0">
                <a:solidFill>
                  <a:srgbClr val="11283F"/>
                </a:solidFill>
                <a:latin typeface="DejaVu Sans"/>
              </a:defRPr>
            </a:pPr>
            <a:r>
              <a:t>groups; measure</a:t>
            </a:r>
          </a:p>
          <a:p>
            <a:pPr>
              <a:lnSpc>
                <a:spcPts val="2440"/>
              </a:lnSpc>
              <a:spcBef>
                <a:spcPts val="0"/>
              </a:spcBef>
              <a:spcAft>
                <a:spcPts val="0"/>
              </a:spcAft>
              <a:defRPr sz="2000" b="0">
                <a:solidFill>
                  <a:srgbClr val="11283F"/>
                </a:solidFill>
                <a:latin typeface="DejaVu Sans"/>
              </a:defRPr>
            </a:pPr>
            <a:r>
              <a:t>stability plus fidelity and</a:t>
            </a:r>
          </a:p>
          <a:p>
            <a:pPr>
              <a:lnSpc>
                <a:spcPts val="2440"/>
              </a:lnSpc>
              <a:spcBef>
                <a:spcPts val="0"/>
              </a:spcBef>
              <a:spcAft>
                <a:spcPts val="0"/>
              </a:spcAft>
              <a:defRPr sz="2000" b="0">
                <a:solidFill>
                  <a:srgbClr val="11283F"/>
                </a:solidFill>
                <a:latin typeface="DejaVu Sans"/>
              </a:defRPr>
            </a:pPr>
            <a:r>
              <a:t>cancellation.</a:t>
            </a:r>
          </a:p>
        </p:txBody>
      </p:sp>
      <p:sp>
        <p:nvSpPr>
          <p:cNvPr id="22" name="TextBox 21"/>
          <p:cNvSpPr txBox="1"/>
          <p:nvPr/>
        </p:nvSpPr>
        <p:spPr>
          <a:xfrm>
            <a:off x="594360" y="5074920"/>
            <a:ext cx="10972800" cy="45720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Credit benchmark • interpretable baseline • controlled comparisons • eight weeks</a:t>
            </a:r>
          </a:p>
        </p:txBody>
      </p:sp>
      <p:sp>
        <p:nvSpPr>
          <p:cNvPr id="23" name="TextBox 22"/>
          <p:cNvSpPr txBox="1"/>
          <p:nvPr/>
        </p:nvSpPr>
        <p:spPr>
          <a:xfrm>
            <a:off x="594360" y="5696712"/>
            <a:ext cx="10972800" cy="384048"/>
          </a:xfrm>
          <a:prstGeom prst="rect">
            <a:avLst/>
          </a:prstGeom>
          <a:noFill/>
        </p:spPr>
        <p:txBody>
          <a:bodyPr wrap="none" lIns="0" rIns="0" tIns="0" bIns="0">
            <a:spAutoFit/>
          </a:bodyPr>
          <a:lstStyle/>
          <a:p>
            <a:pPr>
              <a:lnSpc>
                <a:spcPts val="2074"/>
              </a:lnSpc>
              <a:spcBef>
                <a:spcPts val="0"/>
              </a:spcBef>
              <a:spcAft>
                <a:spcPts val="0"/>
              </a:spcAft>
              <a:defRPr sz="1700" b="0">
                <a:solidFill>
                  <a:srgbClr val="53667A"/>
                </a:solidFill>
                <a:latin typeface="DejaVu Sans"/>
              </a:defRPr>
            </a:pPr>
            <a:r>
              <a:t>[Student name] | [Roll number] | B.Tech IT, DTU | Prof. Rahul Gupta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354"/>
              </a:lnSpc>
              <a:spcBef>
                <a:spcPts val="0"/>
              </a:spcBef>
              <a:spcAft>
                <a:spcPts val="0"/>
              </a:spcAft>
              <a:defRPr sz="2750" b="1">
                <a:solidFill>
                  <a:srgbClr val="11283F"/>
                </a:solidFill>
                <a:latin typeface="DejaVu Sans"/>
              </a:defRPr>
            </a:pPr>
            <a:r>
              <a:t>What the literature establishes — and what we will test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Sources: SHAP [S01]; disagreement [S03]; groupShapley [S04]; ITNAC 2025 [N03]; agreement 2026 [N04]</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2</a:t>
            </a:r>
          </a:p>
        </p:txBody>
      </p:sp>
      <p:sp>
        <p:nvSpPr>
          <p:cNvPr id="9" name="Rectangle 8"/>
          <p:cNvSpPr/>
          <p:nvPr/>
        </p:nvSpPr>
        <p:spPr>
          <a:xfrm>
            <a:off x="548640" y="1508760"/>
            <a:ext cx="1106424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19"/>
            <a:ext cx="2743200" cy="5943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SHAP + dependence</a:t>
            </a:r>
          </a:p>
        </p:txBody>
      </p:sp>
      <p:sp>
        <p:nvSpPr>
          <p:cNvPr id="11" name="TextBox 10"/>
          <p:cNvSpPr txBox="1"/>
          <p:nvPr/>
        </p:nvSpPr>
        <p:spPr>
          <a:xfrm>
            <a:off x="3657600" y="1618488"/>
            <a:ext cx="7680960" cy="347472"/>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Credit depends on model, background and explanation game.</a:t>
            </a:r>
          </a:p>
        </p:txBody>
      </p:sp>
      <p:sp>
        <p:nvSpPr>
          <p:cNvPr id="12" name="TextBox 11"/>
          <p:cNvSpPr txBox="1"/>
          <p:nvPr/>
        </p:nvSpPr>
        <p:spPr>
          <a:xfrm>
            <a:off x="3657600" y="2029967"/>
            <a:ext cx="7680960" cy="228600"/>
          </a:xfrm>
          <a:prstGeom prst="rect">
            <a:avLst/>
          </a:prstGeom>
          <a:noFill/>
        </p:spPr>
        <p:txBody>
          <a:bodyPr wrap="none" lIns="0" rIns="0" tIns="0" bIns="0">
            <a:spAutoFit/>
          </a:bodyPr>
          <a:lstStyle/>
          <a:p>
            <a:pPr>
              <a:lnSpc>
                <a:spcPts val="1464"/>
              </a:lnSpc>
              <a:spcBef>
                <a:spcPts val="0"/>
              </a:spcBef>
              <a:spcAft>
                <a:spcPts val="0"/>
              </a:spcAft>
              <a:defRPr sz="1200" b="0">
                <a:solidFill>
                  <a:srgbClr val="53667A"/>
                </a:solidFill>
                <a:latin typeface="DejaVu Sans"/>
              </a:defRPr>
            </a:pPr>
            <a:r>
              <a:t>Lundberg &amp; Lee; Aas et al.</a:t>
            </a:r>
          </a:p>
        </p:txBody>
      </p:sp>
      <p:sp>
        <p:nvSpPr>
          <p:cNvPr id="13" name="Rectangle 12"/>
          <p:cNvSpPr/>
          <p:nvPr/>
        </p:nvSpPr>
        <p:spPr>
          <a:xfrm>
            <a:off x="548640" y="2532888"/>
            <a:ext cx="1106424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70048"/>
            <a:ext cx="2743200" cy="5943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Disagreement +</a:t>
            </a:r>
          </a:p>
          <a:p>
            <a:pPr>
              <a:lnSpc>
                <a:spcPts val="2196"/>
              </a:lnSpc>
              <a:spcBef>
                <a:spcPts val="0"/>
              </a:spcBef>
              <a:spcAft>
                <a:spcPts val="0"/>
              </a:spcAft>
              <a:defRPr sz="1800" b="1">
                <a:solidFill>
                  <a:srgbClr val="087F8C"/>
                </a:solidFill>
                <a:latin typeface="DejaVu Sans"/>
              </a:defRPr>
            </a:pPr>
            <a:r>
              <a:t>aggregation</a:t>
            </a:r>
          </a:p>
        </p:txBody>
      </p:sp>
      <p:sp>
        <p:nvSpPr>
          <p:cNvPr id="15" name="TextBox 14"/>
          <p:cNvSpPr txBox="1"/>
          <p:nvPr/>
        </p:nvSpPr>
        <p:spPr>
          <a:xfrm>
            <a:off x="3657600" y="2642616"/>
            <a:ext cx="7680960" cy="347472"/>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Agreement is a research problem; fusion already exists.</a:t>
            </a:r>
          </a:p>
        </p:txBody>
      </p:sp>
      <p:sp>
        <p:nvSpPr>
          <p:cNvPr id="16" name="TextBox 15"/>
          <p:cNvSpPr txBox="1"/>
          <p:nvPr/>
        </p:nvSpPr>
        <p:spPr>
          <a:xfrm>
            <a:off x="3657600" y="3054096"/>
            <a:ext cx="7680960" cy="228600"/>
          </a:xfrm>
          <a:prstGeom prst="rect">
            <a:avLst/>
          </a:prstGeom>
          <a:noFill/>
        </p:spPr>
        <p:txBody>
          <a:bodyPr wrap="none" lIns="0" rIns="0" tIns="0" bIns="0">
            <a:spAutoFit/>
          </a:bodyPr>
          <a:lstStyle/>
          <a:p>
            <a:pPr>
              <a:lnSpc>
                <a:spcPts val="1464"/>
              </a:lnSpc>
              <a:spcBef>
                <a:spcPts val="0"/>
              </a:spcBef>
              <a:spcAft>
                <a:spcPts val="0"/>
              </a:spcAft>
              <a:defRPr sz="1200" b="0">
                <a:solidFill>
                  <a:srgbClr val="53667A"/>
                </a:solidFill>
                <a:latin typeface="DejaVu Sans"/>
              </a:defRPr>
            </a:pPr>
            <a:r>
              <a:t>Krishna et al.; Bhatt et al.</a:t>
            </a:r>
          </a:p>
        </p:txBody>
      </p:sp>
      <p:sp>
        <p:nvSpPr>
          <p:cNvPr id="17" name="Rectangle 16"/>
          <p:cNvSpPr/>
          <p:nvPr/>
        </p:nvSpPr>
        <p:spPr>
          <a:xfrm>
            <a:off x="548640" y="3557016"/>
            <a:ext cx="1106424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694176"/>
            <a:ext cx="2743200" cy="5943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Grouped</a:t>
            </a:r>
          </a:p>
          <a:p>
            <a:pPr>
              <a:lnSpc>
                <a:spcPts val="2196"/>
              </a:lnSpc>
              <a:spcBef>
                <a:spcPts val="0"/>
              </a:spcBef>
              <a:spcAft>
                <a:spcPts val="0"/>
              </a:spcAft>
              <a:defRPr sz="1800" b="1">
                <a:solidFill>
                  <a:srgbClr val="087F8C"/>
                </a:solidFill>
                <a:latin typeface="DejaVu Sans"/>
              </a:defRPr>
            </a:pPr>
            <a:r>
              <a:t>explanations</a:t>
            </a:r>
          </a:p>
        </p:txBody>
      </p:sp>
      <p:sp>
        <p:nvSpPr>
          <p:cNvPr id="19" name="TextBox 18"/>
          <p:cNvSpPr txBox="1"/>
          <p:nvPr/>
        </p:nvSpPr>
        <p:spPr>
          <a:xfrm>
            <a:off x="3657600" y="3666744"/>
            <a:ext cx="7680960" cy="347472"/>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groupShapley and recent robustness work are close prior art.</a:t>
            </a:r>
          </a:p>
        </p:txBody>
      </p:sp>
      <p:sp>
        <p:nvSpPr>
          <p:cNvPr id="20" name="TextBox 19"/>
          <p:cNvSpPr txBox="1"/>
          <p:nvPr/>
        </p:nvSpPr>
        <p:spPr>
          <a:xfrm>
            <a:off x="3657600" y="4078224"/>
            <a:ext cx="7680960" cy="228600"/>
          </a:xfrm>
          <a:prstGeom prst="rect">
            <a:avLst/>
          </a:prstGeom>
          <a:noFill/>
        </p:spPr>
        <p:txBody>
          <a:bodyPr wrap="none" lIns="0" rIns="0" tIns="0" bIns="0">
            <a:spAutoFit/>
          </a:bodyPr>
          <a:lstStyle/>
          <a:p>
            <a:pPr>
              <a:lnSpc>
                <a:spcPts val="1464"/>
              </a:lnSpc>
              <a:spcBef>
                <a:spcPts val="0"/>
              </a:spcBef>
              <a:spcAft>
                <a:spcPts val="0"/>
              </a:spcAft>
              <a:defRPr sz="1200" b="0">
                <a:solidFill>
                  <a:srgbClr val="53667A"/>
                </a:solidFill>
                <a:latin typeface="DejaVu Sans"/>
              </a:defRPr>
            </a:pPr>
            <a:r>
              <a:t>Jullum et al.; Hendro et al. (2025)</a:t>
            </a:r>
          </a:p>
        </p:txBody>
      </p:sp>
      <p:sp>
        <p:nvSpPr>
          <p:cNvPr id="21" name="Rectangle 20"/>
          <p:cNvSpPr/>
          <p:nvPr/>
        </p:nvSpPr>
        <p:spPr>
          <a:xfrm>
            <a:off x="548640" y="4791456"/>
            <a:ext cx="11064240" cy="1115568"/>
          </a:xfrm>
          <a:prstGeom prst="rect">
            <a:avLst/>
          </a:prstGeom>
          <a:solidFill>
            <a:srgbClr val="11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10607040" cy="685800"/>
          </a:xfrm>
          <a:prstGeom prst="rect">
            <a:avLst/>
          </a:prstGeom>
          <a:noFill/>
        </p:spPr>
        <p:txBody>
          <a:bodyPr wrap="none" lIns="0" rIns="0" tIns="0" bIns="0">
            <a:spAutoFit/>
          </a:bodyPr>
          <a:lstStyle/>
          <a:p>
            <a:pPr>
              <a:lnSpc>
                <a:spcPts val="2562"/>
              </a:lnSpc>
              <a:spcBef>
                <a:spcPts val="0"/>
              </a:spcBef>
              <a:spcAft>
                <a:spcPts val="0"/>
              </a:spcAft>
              <a:defRPr sz="2100" b="1">
                <a:solidFill>
                  <a:srgbClr val="FFFFFF"/>
                </a:solidFill>
                <a:latin typeface="DejaVu Sans"/>
              </a:defRPr>
            </a:pPr>
            <a:r>
              <a:t>Proposed gap: test stability beyond matched random grouping,</a:t>
            </a:r>
          </a:p>
          <a:p>
            <a:pPr>
              <a:lnSpc>
                <a:spcPts val="2562"/>
              </a:lnSpc>
              <a:spcBef>
                <a:spcPts val="0"/>
              </a:spcBef>
              <a:spcAft>
                <a:spcPts val="0"/>
              </a:spcAft>
              <a:defRPr sz="2100" b="1">
                <a:solidFill>
                  <a:srgbClr val="FFFFFF"/>
                </a:solidFill>
                <a:latin typeface="DejaVu Sans"/>
              </a:defRPr>
            </a:pPr>
            <a:r>
              <a:t>together with information loss and known-ground-truth fidelity.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Methodology and controlled evaluation</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Core method: train-only correlation grouping; coalition sums; size-matched controls. No temporal or causal recourse claim.</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3</a:t>
            </a:r>
          </a:p>
        </p:txBody>
      </p:sp>
      <p:sp>
        <p:nvSpPr>
          <p:cNvPr id="9" name="Rectangle 8"/>
          <p:cNvSpPr/>
          <p:nvPr/>
        </p:nvSpPr>
        <p:spPr>
          <a:xfrm>
            <a:off x="548640"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01</a:t>
            </a:r>
          </a:p>
        </p:txBody>
      </p:sp>
      <p:sp>
        <p:nvSpPr>
          <p:cNvPr id="11" name="TextBox 10"/>
          <p:cNvSpPr txBox="1"/>
          <p:nvPr/>
        </p:nvSpPr>
        <p:spPr>
          <a:xfrm>
            <a:off x="685800"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Split + preprocess</a:t>
            </a:r>
          </a:p>
        </p:txBody>
      </p:sp>
      <p:sp>
        <p:nvSpPr>
          <p:cNvPr id="12" name="TextBox 11"/>
          <p:cNvSpPr txBox="1"/>
          <p:nvPr/>
        </p:nvSpPr>
        <p:spPr>
          <a:xfrm>
            <a:off x="685800" y="2624328"/>
            <a:ext cx="2331720" cy="320040"/>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Fit only on training data</a:t>
            </a:r>
          </a:p>
        </p:txBody>
      </p:sp>
      <p:sp>
        <p:nvSpPr>
          <p:cNvPr id="13" name="Rectangle 12"/>
          <p:cNvSpPr/>
          <p:nvPr/>
        </p:nvSpPr>
        <p:spPr>
          <a:xfrm>
            <a:off x="3364992"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02</a:t>
            </a:r>
          </a:p>
        </p:txBody>
      </p:sp>
      <p:sp>
        <p:nvSpPr>
          <p:cNvPr id="15" name="TextBox 14"/>
          <p:cNvSpPr txBox="1"/>
          <p:nvPr/>
        </p:nvSpPr>
        <p:spPr>
          <a:xfrm>
            <a:off x="3502152"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Retrain + explain</a:t>
            </a:r>
          </a:p>
        </p:txBody>
      </p:sp>
      <p:sp>
        <p:nvSpPr>
          <p:cNvPr id="16" name="TextBox 15"/>
          <p:cNvSpPr txBox="1"/>
          <p:nvPr/>
        </p:nvSpPr>
        <p:spPr>
          <a:xfrm>
            <a:off x="3502152" y="2624328"/>
            <a:ext cx="2331720" cy="320040"/>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Same held-out people</a:t>
            </a:r>
          </a:p>
        </p:txBody>
      </p:sp>
      <p:sp>
        <p:nvSpPr>
          <p:cNvPr id="17" name="Rectangle 16"/>
          <p:cNvSpPr/>
          <p:nvPr/>
        </p:nvSpPr>
        <p:spPr>
          <a:xfrm>
            <a:off x="6181344"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03</a:t>
            </a:r>
          </a:p>
        </p:txBody>
      </p:sp>
      <p:sp>
        <p:nvSpPr>
          <p:cNvPr id="19" name="TextBox 18"/>
          <p:cNvSpPr txBox="1"/>
          <p:nvPr/>
        </p:nvSpPr>
        <p:spPr>
          <a:xfrm>
            <a:off x="6318504"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Group + controls</a:t>
            </a:r>
          </a:p>
        </p:txBody>
      </p:sp>
      <p:sp>
        <p:nvSpPr>
          <p:cNvPr id="20" name="TextBox 19"/>
          <p:cNvSpPr txBox="1"/>
          <p:nvPr/>
        </p:nvSpPr>
        <p:spPr>
          <a:xfrm>
            <a:off x="6318504" y="2624328"/>
            <a:ext cx="2331720" cy="320040"/>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Match group sizes exactly</a:t>
            </a:r>
          </a:p>
        </p:txBody>
      </p:sp>
      <p:sp>
        <p:nvSpPr>
          <p:cNvPr id="21" name="Rectangle 20"/>
          <p:cNvSpPr/>
          <p:nvPr/>
        </p:nvSpPr>
        <p:spPr>
          <a:xfrm>
            <a:off x="8997696"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6"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04</a:t>
            </a:r>
          </a:p>
        </p:txBody>
      </p:sp>
      <p:sp>
        <p:nvSpPr>
          <p:cNvPr id="23" name="TextBox 22"/>
          <p:cNvSpPr txBox="1"/>
          <p:nvPr/>
        </p:nvSpPr>
        <p:spPr>
          <a:xfrm>
            <a:off x="9134856"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Evaluate</a:t>
            </a:r>
          </a:p>
        </p:txBody>
      </p:sp>
      <p:sp>
        <p:nvSpPr>
          <p:cNvPr id="24" name="TextBox 23"/>
          <p:cNvSpPr txBox="1"/>
          <p:nvPr/>
        </p:nvSpPr>
        <p:spPr>
          <a:xfrm>
            <a:off x="9134856" y="2624328"/>
            <a:ext cx="2331720" cy="320040"/>
          </a:xfrm>
          <a:prstGeom prst="rect">
            <a:avLst/>
          </a:prstGeom>
          <a:noFill/>
        </p:spPr>
        <p:txBody>
          <a:bodyPr wrap="none" lIns="0" rIns="0" tIns="0" bIns="0">
            <a:spAutoFit/>
          </a:bodyPr>
          <a:lstStyle/>
          <a:p>
            <a:pPr>
              <a:lnSpc>
                <a:spcPts val="1525"/>
              </a:lnSpc>
              <a:spcBef>
                <a:spcPts val="0"/>
              </a:spcBef>
              <a:spcAft>
                <a:spcPts val="0"/>
              </a:spcAft>
              <a:defRPr sz="1250" b="0">
                <a:solidFill>
                  <a:srgbClr val="53667A"/>
                </a:solidFill>
                <a:latin typeface="DejaVu Sans"/>
              </a:defRPr>
            </a:pPr>
            <a:r>
              <a:t>Stability AND retained detail</a:t>
            </a:r>
          </a:p>
        </p:txBody>
      </p:sp>
      <p:sp>
        <p:nvSpPr>
          <p:cNvPr id="25" name="Rectangle 24"/>
          <p:cNvSpPr/>
          <p:nvPr/>
        </p:nvSpPr>
        <p:spPr>
          <a:xfrm>
            <a:off x="548640" y="3474720"/>
            <a:ext cx="5394960" cy="22402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74720"/>
            <a:ext cx="41148"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36210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MEASURE</a:t>
            </a:r>
          </a:p>
        </p:txBody>
      </p:sp>
      <p:sp>
        <p:nvSpPr>
          <p:cNvPr id="28" name="TextBox 27"/>
          <p:cNvSpPr txBox="1"/>
          <p:nvPr/>
        </p:nvSpPr>
        <p:spPr>
          <a:xfrm>
            <a:off x="713232" y="4142231"/>
            <a:ext cx="5065776" cy="1481328"/>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RBO stability • matched-random difference</a:t>
            </a:r>
          </a:p>
          <a:p>
            <a:pPr>
              <a:lnSpc>
                <a:spcPts val="2196"/>
              </a:lnSpc>
              <a:spcBef>
                <a:spcPts val="0"/>
              </a:spcBef>
              <a:spcAft>
                <a:spcPts val="0"/>
              </a:spcAft>
              <a:defRPr sz="1800" b="0">
                <a:solidFill>
                  <a:srgbClr val="11283F"/>
                </a:solidFill>
                <a:latin typeface="DejaVu Sans"/>
              </a:defRPr>
            </a:pPr>
            <a:r>
              <a:t>Cancellation • synthetic attribution error</a:t>
            </a:r>
          </a:p>
          <a:p>
            <a:pPr>
              <a:lnSpc>
                <a:spcPts val="2196"/>
              </a:lnSpc>
              <a:spcBef>
                <a:spcPts val="0"/>
              </a:spcBef>
              <a:spcAft>
                <a:spcPts val="0"/>
              </a:spcAft>
              <a:defRPr sz="1800" b="0">
                <a:solidFill>
                  <a:srgbClr val="11283F"/>
                </a:solidFill>
                <a:latin typeface="DejaVu Sans"/>
              </a:defRPr>
            </a:pPr>
            <a:r>
              <a:t>AP / ROC-AUC / Brier • runtime</a:t>
            </a:r>
          </a:p>
        </p:txBody>
      </p:sp>
      <p:sp>
        <p:nvSpPr>
          <p:cNvPr id="29" name="Rectangle 28"/>
          <p:cNvSpPr/>
          <p:nvPr/>
        </p:nvSpPr>
        <p:spPr>
          <a:xfrm>
            <a:off x="6144768" y="3474720"/>
            <a:ext cx="5440680" cy="22402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44768" y="3474720"/>
            <a:ext cx="41148"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59" y="3621024"/>
            <a:ext cx="511149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CONTROL</a:t>
            </a:r>
          </a:p>
        </p:txBody>
      </p:sp>
      <p:sp>
        <p:nvSpPr>
          <p:cNvPr id="32" name="TextBox 31"/>
          <p:cNvSpPr txBox="1"/>
          <p:nvPr/>
        </p:nvSpPr>
        <p:spPr>
          <a:xfrm>
            <a:off x="6309359" y="4142231"/>
            <a:ext cx="5111496" cy="1481328"/>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No grouping • same-size random groups</a:t>
            </a:r>
          </a:p>
          <a:p>
            <a:pPr>
              <a:lnSpc>
                <a:spcPts val="2196"/>
              </a:lnSpc>
              <a:spcBef>
                <a:spcPts val="0"/>
              </a:spcBef>
              <a:spcAft>
                <a:spcPts val="0"/>
              </a:spcAft>
              <a:defRPr sz="1800" b="0">
                <a:solidFill>
                  <a:srgbClr val="11283F"/>
                </a:solidFill>
                <a:latin typeface="DejaVu Sans"/>
              </a:defRPr>
            </a:pPr>
            <a:r>
              <a:t>Known additive + interaction cases</a:t>
            </a:r>
          </a:p>
          <a:p>
            <a:pPr>
              <a:lnSpc>
                <a:spcPts val="2196"/>
              </a:lnSpc>
              <a:spcBef>
                <a:spcPts val="0"/>
              </a:spcBef>
              <a:spcAft>
                <a:spcPts val="0"/>
              </a:spcAft>
              <a:defRPr sz="1800" b="0">
                <a:solidFill>
                  <a:srgbClr val="11283F"/>
                </a:solidFill>
                <a:latin typeface="DejaVu Sans"/>
              </a:defRPr>
            </a:pPr>
            <a:r>
              <a:t>Fixed model/output/background per</a:t>
            </a:r>
          </a:p>
          <a:p>
            <a:pPr>
              <a:lnSpc>
                <a:spcPts val="2196"/>
              </a:lnSpc>
              <a:spcBef>
                <a:spcPts val="0"/>
              </a:spcBef>
              <a:spcAft>
                <a:spcPts val="0"/>
              </a:spcAft>
              <a:defRPr sz="1800" b="0">
                <a:solidFill>
                  <a:srgbClr val="11283F"/>
                </a:solidFill>
                <a:latin typeface="DejaVu Sans"/>
              </a:defRPr>
            </a:pPr>
            <a:r>
              <a:t>comparison</a:t>
            </a:r>
          </a:p>
        </p:txBody>
      </p:sp>
      <p:sp>
        <p:nvSpPr>
          <p:cNvPr id="33" name="TextBox 32"/>
          <p:cNvSpPr txBox="1"/>
          <p:nvPr/>
        </p:nvSpPr>
        <p:spPr>
          <a:xfrm>
            <a:off x="594360" y="5916168"/>
            <a:ext cx="10972800" cy="256032"/>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Minimum scope: synthetic data + UCI credit; logistic + one tree family. HELOC is conditional on verified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Pilot results and eight-week validation plan</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Measured run: code/results/pilot.json | 10 bootstrap fits; 45 dependent pairs; 30 random partitions | Preliminary only</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4</a:t>
            </a:r>
          </a:p>
        </p:txBody>
      </p:sp>
      <p:sp>
        <p:nvSpPr>
          <p:cNvPr id="9" name="TextBox 8"/>
          <p:cNvSpPr txBox="1"/>
          <p:nvPr/>
        </p:nvSpPr>
        <p:spPr>
          <a:xfrm>
            <a:off x="594360" y="1508760"/>
            <a:ext cx="5577840" cy="393192"/>
          </a:xfrm>
          <a:prstGeom prst="rect">
            <a:avLst/>
          </a:prstGeom>
          <a:noFill/>
        </p:spPr>
        <p:txBody>
          <a:bodyPr wrap="none" lIns="0" rIns="0" tIns="0" bIns="0">
            <a:spAutoFit/>
          </a:bodyPr>
          <a:lstStyle/>
          <a:p>
            <a:pPr>
              <a:lnSpc>
                <a:spcPts val="2318"/>
              </a:lnSpc>
              <a:spcBef>
                <a:spcPts val="0"/>
              </a:spcBef>
              <a:spcAft>
                <a:spcPts val="0"/>
              </a:spcAft>
              <a:defRPr sz="1900" b="1">
                <a:solidFill>
                  <a:srgbClr val="11283F"/>
                </a:solidFill>
                <a:latin typeface="DejaVu Sans"/>
              </a:defRPr>
            </a:pPr>
            <a:r>
              <a:t>11 groups; matched group sizes</a:t>
            </a:r>
          </a:p>
        </p:txBody>
      </p:sp>
      <p:sp>
        <p:nvSpPr>
          <p:cNvPr id="10" name="TextBox 9"/>
          <p:cNvSpPr txBox="1"/>
          <p:nvPr/>
        </p:nvSpPr>
        <p:spPr>
          <a:xfrm>
            <a:off x="594360" y="2066543"/>
            <a:ext cx="5212080" cy="274320"/>
          </a:xfrm>
          <a:prstGeom prst="rect">
            <a:avLst/>
          </a:prstGeom>
          <a:noFill/>
        </p:spPr>
        <p:txBody>
          <a:bodyPr wrap="none" lIns="0" rIns="0" tIns="0" bIns="0">
            <a:spAutoFit/>
          </a:bodyPr>
          <a:lstStyle/>
          <a:p>
            <a:pPr>
              <a:lnSpc>
                <a:spcPts val="1830"/>
              </a:lnSpc>
              <a:spcBef>
                <a:spcPts val="0"/>
              </a:spcBef>
              <a:spcAft>
                <a:spcPts val="0"/>
              </a:spcAft>
              <a:defRPr sz="1500" b="0">
                <a:solidFill>
                  <a:srgbClr val="53667A"/>
                </a:solidFill>
                <a:latin typeface="DejaVu Sans"/>
              </a:defRPr>
            </a:pPr>
            <a:r>
              <a:t>Correlation groups</a:t>
            </a:r>
          </a:p>
        </p:txBody>
      </p:sp>
      <p:sp>
        <p:nvSpPr>
          <p:cNvPr id="11" name="Rectangle 10"/>
          <p:cNvSpPr/>
          <p:nvPr/>
        </p:nvSpPr>
        <p:spPr>
          <a:xfrm>
            <a:off x="594360" y="2414015"/>
            <a:ext cx="4846320" cy="21945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414015"/>
            <a:ext cx="4477999" cy="2194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258568"/>
            <a:ext cx="640080" cy="45720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0.924</a:t>
            </a:r>
          </a:p>
        </p:txBody>
      </p:sp>
      <p:sp>
        <p:nvSpPr>
          <p:cNvPr id="14" name="TextBox 13"/>
          <p:cNvSpPr txBox="1"/>
          <p:nvPr/>
        </p:nvSpPr>
        <p:spPr>
          <a:xfrm>
            <a:off x="594360" y="2816352"/>
            <a:ext cx="5212080" cy="274320"/>
          </a:xfrm>
          <a:prstGeom prst="rect">
            <a:avLst/>
          </a:prstGeom>
          <a:noFill/>
        </p:spPr>
        <p:txBody>
          <a:bodyPr wrap="none" lIns="0" rIns="0" tIns="0" bIns="0">
            <a:spAutoFit/>
          </a:bodyPr>
          <a:lstStyle/>
          <a:p>
            <a:pPr>
              <a:lnSpc>
                <a:spcPts val="1830"/>
              </a:lnSpc>
              <a:spcBef>
                <a:spcPts val="0"/>
              </a:spcBef>
              <a:spcAft>
                <a:spcPts val="0"/>
              </a:spcAft>
              <a:defRPr sz="1500" b="0">
                <a:solidFill>
                  <a:srgbClr val="53667A"/>
                </a:solidFill>
                <a:latin typeface="DejaVu Sans"/>
              </a:defRPr>
            </a:pPr>
            <a:r>
              <a:t>Matched random groups</a:t>
            </a:r>
          </a:p>
        </p:txBody>
      </p:sp>
      <p:sp>
        <p:nvSpPr>
          <p:cNvPr id="15" name="Rectangle 14"/>
          <p:cNvSpPr/>
          <p:nvPr/>
        </p:nvSpPr>
        <p:spPr>
          <a:xfrm>
            <a:off x="594360" y="3163824"/>
            <a:ext cx="4846320" cy="21945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163824"/>
            <a:ext cx="4182858" cy="219456"/>
          </a:xfrm>
          <a:prstGeom prst="rect">
            <a:avLst/>
          </a:prstGeom>
          <a:solidFill>
            <a:srgbClr val="536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2120" y="3008376"/>
            <a:ext cx="640080" cy="457200"/>
          </a:xfrm>
          <a:prstGeom prst="rect">
            <a:avLst/>
          </a:prstGeom>
          <a:noFill/>
        </p:spPr>
        <p:txBody>
          <a:bodyPr wrap="none" lIns="0" rIns="0" tIns="0" bIns="0">
            <a:spAutoFit/>
          </a:bodyPr>
          <a:lstStyle/>
          <a:p>
            <a:pPr>
              <a:lnSpc>
                <a:spcPts val="2196"/>
              </a:lnSpc>
              <a:spcBef>
                <a:spcPts val="0"/>
              </a:spcBef>
              <a:spcAft>
                <a:spcPts val="0"/>
              </a:spcAft>
              <a:defRPr sz="1800" b="1">
                <a:solidFill>
                  <a:srgbClr val="53667A"/>
                </a:solidFill>
                <a:latin typeface="DejaVu Sans"/>
              </a:defRPr>
            </a:pPr>
            <a:r>
              <a:t>0.863</a:t>
            </a:r>
          </a:p>
        </p:txBody>
      </p:sp>
      <p:sp>
        <p:nvSpPr>
          <p:cNvPr id="18" name="TextBox 17"/>
          <p:cNvSpPr txBox="1"/>
          <p:nvPr/>
        </p:nvSpPr>
        <p:spPr>
          <a:xfrm>
            <a:off x="594360" y="3703320"/>
            <a:ext cx="5486400" cy="548640"/>
          </a:xfrm>
          <a:prstGeom prst="rect">
            <a:avLst/>
          </a:prstGeom>
          <a:noFill/>
        </p:spPr>
        <p:txBody>
          <a:bodyPr wrap="none" lIns="0" rIns="0" tIns="0" bIns="0">
            <a:spAutoFit/>
          </a:bodyPr>
          <a:lstStyle/>
          <a:p>
            <a:pPr>
              <a:lnSpc>
                <a:spcPts val="2684"/>
              </a:lnSpc>
              <a:spcBef>
                <a:spcPts val="0"/>
              </a:spcBef>
              <a:spcAft>
                <a:spcPts val="0"/>
              </a:spcAft>
              <a:defRPr sz="2200" b="1">
                <a:solidFill>
                  <a:srgbClr val="087F8C"/>
                </a:solidFill>
                <a:latin typeface="DejaVu Sans"/>
              </a:defRPr>
            </a:pPr>
            <a:r>
              <a:t>Controlled RBO difference: +0.061</a:t>
            </a:r>
          </a:p>
        </p:txBody>
      </p:sp>
      <p:sp>
        <p:nvSpPr>
          <p:cNvPr id="19" name="TextBox 18"/>
          <p:cNvSpPr txBox="1"/>
          <p:nvPr/>
        </p:nvSpPr>
        <p:spPr>
          <a:xfrm>
            <a:off x="594360" y="4416552"/>
            <a:ext cx="5486400" cy="914400"/>
          </a:xfrm>
          <a:prstGeom prst="rect">
            <a:avLst/>
          </a:prstGeom>
          <a:noFill/>
        </p:spPr>
        <p:txBody>
          <a:bodyPr wrap="none" lIns="0" rIns="0" tIns="0" bIns="0">
            <a:spAutoFit/>
          </a:bodyPr>
          <a:lstStyle/>
          <a:p>
            <a:pPr>
              <a:lnSpc>
                <a:spcPts val="1952"/>
              </a:lnSpc>
              <a:spcBef>
                <a:spcPts val="0"/>
              </a:spcBef>
              <a:spcAft>
                <a:spcPts val="0"/>
              </a:spcAft>
              <a:defRPr sz="1600" b="0">
                <a:solidFill>
                  <a:srgbClr val="11283F"/>
                </a:solidFill>
                <a:latin typeface="DejaVu Sans"/>
              </a:defRPr>
            </a:pPr>
            <a:r>
              <a:t>30,000 rows • 24k train / 6k test</a:t>
            </a:r>
          </a:p>
          <a:p>
            <a:pPr>
              <a:lnSpc>
                <a:spcPts val="1952"/>
              </a:lnSpc>
              <a:spcBef>
                <a:spcPts val="0"/>
              </a:spcBef>
              <a:spcAft>
                <a:spcPts val="0"/>
              </a:spcAft>
              <a:defRPr sz="1600" b="0">
                <a:solidFill>
                  <a:srgbClr val="11283F"/>
                </a:solidFill>
                <a:latin typeface="DejaVu Sans"/>
              </a:defRPr>
            </a:pPr>
            <a:r>
              <a:t>AP 0.489 • AUC 0.713 • Brier 0.148</a:t>
            </a:r>
          </a:p>
          <a:p>
            <a:pPr>
              <a:lnSpc>
                <a:spcPts val="1952"/>
              </a:lnSpc>
              <a:spcBef>
                <a:spcPts val="0"/>
              </a:spcBef>
              <a:spcAft>
                <a:spcPts val="0"/>
              </a:spcAft>
              <a:defRPr sz="1600" b="0">
                <a:solidFill>
                  <a:srgbClr val="11283F"/>
                </a:solidFill>
                <a:latin typeface="DejaVu Sans"/>
              </a:defRPr>
            </a:pPr>
            <a:r>
              <a:t>9 checks pass; deterministic replay matches</a:t>
            </a:r>
          </a:p>
        </p:txBody>
      </p:sp>
      <p:sp>
        <p:nvSpPr>
          <p:cNvPr id="20" name="Rectangle 19"/>
          <p:cNvSpPr/>
          <p:nvPr/>
        </p:nvSpPr>
        <p:spPr>
          <a:xfrm>
            <a:off x="6446520" y="1508760"/>
            <a:ext cx="5074920" cy="36118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1508760"/>
            <a:ext cx="41148"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1112" y="1655063"/>
            <a:ext cx="474573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EIGHT-WEEK VALIDATION</a:t>
            </a:r>
          </a:p>
        </p:txBody>
      </p:sp>
      <p:sp>
        <p:nvSpPr>
          <p:cNvPr id="23" name="TextBox 22"/>
          <p:cNvSpPr txBox="1"/>
          <p:nvPr/>
        </p:nvSpPr>
        <p:spPr>
          <a:xfrm>
            <a:off x="6611112" y="2176272"/>
            <a:ext cx="4745736" cy="285292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W1–2 Data + synthetic oracle</a:t>
            </a:r>
          </a:p>
          <a:p>
            <a:pPr>
              <a:lnSpc>
                <a:spcPts val="2318"/>
              </a:lnSpc>
              <a:spcBef>
                <a:spcPts val="0"/>
              </a:spcBef>
              <a:spcAft>
                <a:spcPts val="0"/>
              </a:spcAft>
              <a:defRPr sz="1900" b="0">
                <a:solidFill>
                  <a:srgbClr val="11283F"/>
                </a:solidFill>
                <a:latin typeface="DejaVu Sans"/>
              </a:defRPr>
            </a:pPr>
            <a:r>
              <a:t>W3–4 Tree SHAP + matched controls</a:t>
            </a:r>
          </a:p>
          <a:p>
            <a:pPr>
              <a:lnSpc>
                <a:spcPts val="2318"/>
              </a:lnSpc>
              <a:spcBef>
                <a:spcPts val="0"/>
              </a:spcBef>
              <a:spcAft>
                <a:spcPts val="0"/>
              </a:spcAft>
              <a:defRPr sz="1900" b="0">
                <a:solidFill>
                  <a:srgbClr val="11283F"/>
                </a:solidFill>
                <a:latin typeface="DejaVu Sans"/>
              </a:defRPr>
            </a:pPr>
            <a:r>
              <a:t>W5–6 Fidelity + replication</a:t>
            </a:r>
          </a:p>
          <a:p>
            <a:pPr>
              <a:lnSpc>
                <a:spcPts val="2318"/>
              </a:lnSpc>
              <a:spcBef>
                <a:spcPts val="0"/>
              </a:spcBef>
              <a:spcAft>
                <a:spcPts val="0"/>
              </a:spcAft>
              <a:defRPr sz="1900" b="0">
                <a:solidFill>
                  <a:srgbClr val="11283F"/>
                </a:solidFill>
                <a:latin typeface="DejaVu Sans"/>
              </a:defRPr>
            </a:pPr>
            <a:r>
              <a:t>W7–8 Paper + advisor review</a:t>
            </a:r>
          </a:p>
        </p:txBody>
      </p:sp>
      <p:sp>
        <p:nvSpPr>
          <p:cNvPr id="24" name="Rectangle 23"/>
          <p:cNvSpPr/>
          <p:nvPr/>
        </p:nvSpPr>
        <p:spPr>
          <a:xfrm>
            <a:off x="548640" y="5486400"/>
            <a:ext cx="10972800" cy="576072"/>
          </a:xfrm>
          <a:prstGeom prst="rect">
            <a:avLst/>
          </a:prstGeom>
          <a:solidFill>
            <a:srgbClr val="FFF2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614416"/>
            <a:ext cx="10607040" cy="329184"/>
          </a:xfrm>
          <a:prstGeom prst="rect">
            <a:avLst/>
          </a:prstGeom>
          <a:noFill/>
        </p:spPr>
        <p:txBody>
          <a:bodyPr wrap="none" lIns="0" rIns="0" tIns="0" bIns="0">
            <a:spAutoFit/>
          </a:bodyPr>
          <a:lstStyle/>
          <a:p>
            <a:pPr>
              <a:lnSpc>
                <a:spcPts val="1830"/>
              </a:lnSpc>
              <a:spcBef>
                <a:spcPts val="0"/>
              </a:spcBef>
              <a:spcAft>
                <a:spcPts val="0"/>
              </a:spcAft>
              <a:defRPr sz="1500" b="1">
                <a:solidFill>
                  <a:srgbClr val="BC7412"/>
                </a:solidFill>
                <a:latin typeface="DejaVu Sans"/>
              </a:defRPr>
            </a:pPr>
            <a:r>
              <a:t>Limit: one split, logistic model only. No significance, causal recourse or publication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01 • FIRST PRINCIPLES</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The concepts you need before the experiment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DTU • [Student name] • [Roll number] • Prof. Rahul Gupta • 28 October 2026</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5</a:t>
            </a:r>
          </a:p>
        </p:txBody>
      </p:sp>
      <p:sp>
        <p:nvSpPr>
          <p:cNvPr id="9" name="Rectangle 8"/>
          <p:cNvSpPr/>
          <p:nvPr/>
        </p:nvSpPr>
        <p:spPr>
          <a:xfrm>
            <a:off x="548640" y="1554480"/>
            <a:ext cx="539496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5448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0078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MODEL</a:t>
            </a:r>
          </a:p>
        </p:txBody>
      </p:sp>
      <p:sp>
        <p:nvSpPr>
          <p:cNvPr id="12" name="TextBox 11"/>
          <p:cNvSpPr txBox="1"/>
          <p:nvPr/>
        </p:nvSpPr>
        <p:spPr>
          <a:xfrm>
            <a:off x="713232" y="2221991"/>
            <a:ext cx="5065776" cy="116128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Inputs → learned function → default</a:t>
            </a:r>
          </a:p>
          <a:p>
            <a:pPr>
              <a:lnSpc>
                <a:spcPts val="2318"/>
              </a:lnSpc>
              <a:spcBef>
                <a:spcPts val="0"/>
              </a:spcBef>
              <a:spcAft>
                <a:spcPts val="0"/>
              </a:spcAft>
              <a:defRPr sz="1900" b="0">
                <a:solidFill>
                  <a:srgbClr val="11283F"/>
                </a:solidFill>
                <a:latin typeface="DejaVu Sans"/>
              </a:defRPr>
            </a:pPr>
            <a:r>
              <a:t>probability. Testing asks whether</a:t>
            </a:r>
          </a:p>
          <a:p>
            <a:pPr>
              <a:lnSpc>
                <a:spcPts val="2318"/>
              </a:lnSpc>
              <a:spcBef>
                <a:spcPts val="0"/>
              </a:spcBef>
              <a:spcAft>
                <a:spcPts val="0"/>
              </a:spcAft>
              <a:defRPr sz="1900" b="0">
                <a:solidFill>
                  <a:srgbClr val="11283F"/>
                </a:solidFill>
                <a:latin typeface="DejaVu Sans"/>
              </a:defRPr>
            </a:pPr>
            <a:r>
              <a:t>predictions generalize.</a:t>
            </a:r>
          </a:p>
        </p:txBody>
      </p:sp>
      <p:sp>
        <p:nvSpPr>
          <p:cNvPr id="13" name="Rectangle 12"/>
          <p:cNvSpPr/>
          <p:nvPr/>
        </p:nvSpPr>
        <p:spPr>
          <a:xfrm>
            <a:off x="6126480" y="1554480"/>
            <a:ext cx="539496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55448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70078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ATTRIBUTION</a:t>
            </a:r>
          </a:p>
        </p:txBody>
      </p:sp>
      <p:sp>
        <p:nvSpPr>
          <p:cNvPr id="16" name="TextBox 15"/>
          <p:cNvSpPr txBox="1"/>
          <p:nvPr/>
        </p:nvSpPr>
        <p:spPr>
          <a:xfrm>
            <a:off x="6291072" y="2221991"/>
            <a:ext cx="5065776" cy="116128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A contribution to a stated model output,</a:t>
            </a:r>
          </a:p>
          <a:p>
            <a:pPr>
              <a:lnSpc>
                <a:spcPts val="2318"/>
              </a:lnSpc>
              <a:spcBef>
                <a:spcPts val="0"/>
              </a:spcBef>
              <a:spcAft>
                <a:spcPts val="0"/>
              </a:spcAft>
              <a:defRPr sz="1900" b="0">
                <a:solidFill>
                  <a:srgbClr val="11283F"/>
                </a:solidFill>
                <a:latin typeface="DejaVu Sans"/>
              </a:defRPr>
            </a:pPr>
            <a:r>
              <a:t>relative to a specified background.</a:t>
            </a:r>
          </a:p>
        </p:txBody>
      </p:sp>
      <p:sp>
        <p:nvSpPr>
          <p:cNvPr id="17" name="Rectangle 16"/>
          <p:cNvSpPr/>
          <p:nvPr/>
        </p:nvSpPr>
        <p:spPr>
          <a:xfrm>
            <a:off x="548640" y="3703320"/>
            <a:ext cx="539496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0332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8496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STABILITY</a:t>
            </a:r>
          </a:p>
        </p:txBody>
      </p:sp>
      <p:sp>
        <p:nvSpPr>
          <p:cNvPr id="20" name="TextBox 19"/>
          <p:cNvSpPr txBox="1"/>
          <p:nvPr/>
        </p:nvSpPr>
        <p:spPr>
          <a:xfrm>
            <a:off x="713232" y="4370831"/>
            <a:ext cx="5065776" cy="116128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Does the explanation change when the</a:t>
            </a:r>
          </a:p>
          <a:p>
            <a:pPr>
              <a:lnSpc>
                <a:spcPts val="2318"/>
              </a:lnSpc>
              <a:spcBef>
                <a:spcPts val="0"/>
              </a:spcBef>
              <a:spcAft>
                <a:spcPts val="0"/>
              </a:spcAft>
              <a:defRPr sz="1900" b="0">
                <a:solidFill>
                  <a:srgbClr val="11283F"/>
                </a:solidFill>
                <a:latin typeface="DejaVu Sans"/>
              </a:defRPr>
            </a:pPr>
            <a:r>
              <a:t>model is retrained on resampled data?</a:t>
            </a:r>
          </a:p>
        </p:txBody>
      </p:sp>
      <p:sp>
        <p:nvSpPr>
          <p:cNvPr id="21" name="Rectangle 20"/>
          <p:cNvSpPr/>
          <p:nvPr/>
        </p:nvSpPr>
        <p:spPr>
          <a:xfrm>
            <a:off x="6126480" y="3703320"/>
            <a:ext cx="539496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370332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1072" y="38496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FIDELITY</a:t>
            </a:r>
          </a:p>
        </p:txBody>
      </p:sp>
      <p:sp>
        <p:nvSpPr>
          <p:cNvPr id="24" name="TextBox 23"/>
          <p:cNvSpPr txBox="1"/>
          <p:nvPr/>
        </p:nvSpPr>
        <p:spPr>
          <a:xfrm>
            <a:off x="6291072" y="4370831"/>
            <a:ext cx="5065776" cy="116128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Does the explanation reflect the</a:t>
            </a:r>
          </a:p>
          <a:p>
            <a:pPr>
              <a:lnSpc>
                <a:spcPts val="2318"/>
              </a:lnSpc>
              <a:spcBef>
                <a:spcPts val="0"/>
              </a:spcBef>
              <a:spcAft>
                <a:spcPts val="0"/>
              </a:spcAft>
              <a:defRPr sz="1900" b="0">
                <a:solidFill>
                  <a:srgbClr val="11283F"/>
                </a:solidFill>
                <a:latin typeface="DejaVu Sans"/>
              </a:defRPr>
            </a:pPr>
            <a:r>
              <a:t>specified model/game? Stability alone is</a:t>
            </a:r>
          </a:p>
          <a:p>
            <a:pPr>
              <a:lnSpc>
                <a:spcPts val="2318"/>
              </a:lnSpc>
              <a:spcBef>
                <a:spcPts val="0"/>
              </a:spcBef>
              <a:spcAft>
                <a:spcPts val="0"/>
              </a:spcAft>
              <a:defRPr sz="1900" b="0">
                <a:solidFill>
                  <a:srgbClr val="11283F"/>
                </a:solidFill>
                <a:latin typeface="DejaVu Sans"/>
              </a:defRPr>
            </a:pPr>
            <a:r>
              <a:t>insufficient.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02 • DOCUMENT AUDIT</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The “corrected” manual still needs correction</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Detailed 36-point audit with printed PDF page numbers is in the Research Dossier.</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6</a:t>
            </a:r>
          </a:p>
        </p:txBody>
      </p:sp>
      <p:sp>
        <p:nvSpPr>
          <p:cNvPr id="9" name="TextBox 8"/>
          <p:cNvSpPr txBox="1"/>
          <p:nvPr/>
        </p:nvSpPr>
        <p:spPr>
          <a:xfrm>
            <a:off x="640080" y="1645920"/>
            <a:ext cx="10789920" cy="621792"/>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Lower correlation cutoff → more merging, not more groups.</a:t>
            </a:r>
          </a:p>
        </p:txBody>
      </p:sp>
      <p:sp>
        <p:nvSpPr>
          <p:cNvPr id="10" name="TextBox 9"/>
          <p:cNvSpPr txBox="1"/>
          <p:nvPr/>
        </p:nvSpPr>
        <p:spPr>
          <a:xfrm>
            <a:off x="640080" y="2340864"/>
            <a:ext cx="10789920" cy="621792"/>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Coalition sums are not generally Owen / exact group values.</a:t>
            </a:r>
          </a:p>
        </p:txBody>
      </p:sp>
      <p:sp>
        <p:nvSpPr>
          <p:cNvPr id="11" name="TextBox 10"/>
          <p:cNvSpPr txBox="1"/>
          <p:nvPr/>
        </p:nvSpPr>
        <p:spPr>
          <a:xfrm>
            <a:off x="640080" y="3035808"/>
            <a:ext cx="10789920" cy="621792"/>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Mean logit transformed by sigmoid is not mean probability.</a:t>
            </a:r>
          </a:p>
        </p:txBody>
      </p:sp>
      <p:sp>
        <p:nvSpPr>
          <p:cNvPr id="12" name="TextBox 11"/>
          <p:cNvSpPr txBox="1"/>
          <p:nvPr/>
        </p:nvSpPr>
        <p:spPr>
          <a:xfrm>
            <a:off x="640080" y="3730752"/>
            <a:ext cx="10789920" cy="621792"/>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Margin code has an order-statistic error; alpha direction is reversed.</a:t>
            </a:r>
          </a:p>
        </p:txBody>
      </p:sp>
      <p:sp>
        <p:nvSpPr>
          <p:cNvPr id="13" name="TextBox 12"/>
          <p:cNvSpPr txBox="1"/>
          <p:nvPr/>
        </p:nvSpPr>
        <p:spPr>
          <a:xfrm>
            <a:off x="640080" y="4425696"/>
            <a:ext cx="10789920" cy="621792"/>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Static credit data cannot validate temporal, actionable recourse.</a:t>
            </a:r>
          </a:p>
        </p:txBody>
      </p:sp>
      <p:sp>
        <p:nvSpPr>
          <p:cNvPr id="14" name="TextBox 13"/>
          <p:cNvSpPr txBox="1"/>
          <p:nvPr/>
        </p:nvSpPr>
        <p:spPr>
          <a:xfrm>
            <a:off x="640080" y="5120640"/>
            <a:ext cx="10789920" cy="621792"/>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Agreement, monotonicity and lower VIF do not prove explanation quality.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03 • EXACT BASELINE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A linear attribution you can calculate by hand</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Illustrative arithmetic, not a measured applicant. Pilot uses the same identity on standardized logit inputs.</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7</a:t>
            </a:r>
          </a:p>
        </p:txBody>
      </p:sp>
      <p:sp>
        <p:nvSpPr>
          <p:cNvPr id="9" name="TextBox 8"/>
          <p:cNvSpPr txBox="1"/>
          <p:nvPr/>
        </p:nvSpPr>
        <p:spPr>
          <a:xfrm>
            <a:off x="685800" y="1645920"/>
            <a:ext cx="10789920" cy="731520"/>
          </a:xfrm>
          <a:prstGeom prst="rect">
            <a:avLst/>
          </a:prstGeom>
          <a:noFill/>
        </p:spPr>
        <p:txBody>
          <a:bodyPr wrap="none" lIns="0" rIns="0" tIns="0" bIns="0">
            <a:spAutoFit/>
          </a:bodyPr>
          <a:lstStyle/>
          <a:p>
            <a:pPr>
              <a:lnSpc>
                <a:spcPts val="3050"/>
              </a:lnSpc>
              <a:spcBef>
                <a:spcPts val="0"/>
              </a:spcBef>
              <a:spcAft>
                <a:spcPts val="0"/>
              </a:spcAft>
              <a:defRPr sz="2500" b="1">
                <a:solidFill>
                  <a:srgbClr val="11283F"/>
                </a:solidFill>
                <a:latin typeface="DejaVu Sans"/>
              </a:defRPr>
            </a:pPr>
            <a:r>
              <a:t>Score = 3x₁ + 2x₂ Reference = (1, 2) Input = (2, 5)</a:t>
            </a:r>
          </a:p>
        </p:txBody>
      </p:sp>
      <p:sp>
        <p:nvSpPr>
          <p:cNvPr id="10" name="Rectangle 9"/>
          <p:cNvSpPr/>
          <p:nvPr/>
        </p:nvSpPr>
        <p:spPr>
          <a:xfrm>
            <a:off x="640080" y="2743200"/>
            <a:ext cx="347472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74320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2889504"/>
            <a:ext cx="314553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BASE SCORE</a:t>
            </a:r>
          </a:p>
        </p:txBody>
      </p:sp>
      <p:sp>
        <p:nvSpPr>
          <p:cNvPr id="13" name="TextBox 12"/>
          <p:cNvSpPr txBox="1"/>
          <p:nvPr/>
        </p:nvSpPr>
        <p:spPr>
          <a:xfrm>
            <a:off x="804671" y="3410712"/>
            <a:ext cx="3145536" cy="1161288"/>
          </a:xfrm>
          <a:prstGeom prst="rect">
            <a:avLst/>
          </a:prstGeom>
          <a:noFill/>
        </p:spPr>
        <p:txBody>
          <a:bodyPr wrap="none" lIns="0" rIns="0" tIns="0" bIns="0">
            <a:spAutoFit/>
          </a:bodyPr>
          <a:lstStyle/>
          <a:p>
            <a:pPr>
              <a:lnSpc>
                <a:spcPts val="2806"/>
              </a:lnSpc>
              <a:spcBef>
                <a:spcPts val="0"/>
              </a:spcBef>
              <a:spcAft>
                <a:spcPts val="0"/>
              </a:spcAft>
              <a:defRPr sz="2300" b="0">
                <a:solidFill>
                  <a:srgbClr val="11283F"/>
                </a:solidFill>
                <a:latin typeface="DejaVu Sans"/>
              </a:defRPr>
            </a:pPr>
            <a:r>
              <a:t>3×1 + 2×2 = 7</a:t>
            </a:r>
          </a:p>
        </p:txBody>
      </p:sp>
      <p:sp>
        <p:nvSpPr>
          <p:cNvPr id="14" name="Rectangle 13"/>
          <p:cNvSpPr/>
          <p:nvPr/>
        </p:nvSpPr>
        <p:spPr>
          <a:xfrm>
            <a:off x="4343400" y="2743200"/>
            <a:ext cx="347472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74320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2889504"/>
            <a:ext cx="314553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CONTRIBUTIONS</a:t>
            </a:r>
          </a:p>
        </p:txBody>
      </p:sp>
      <p:sp>
        <p:nvSpPr>
          <p:cNvPr id="17" name="TextBox 16"/>
          <p:cNvSpPr txBox="1"/>
          <p:nvPr/>
        </p:nvSpPr>
        <p:spPr>
          <a:xfrm>
            <a:off x="4507992" y="3410712"/>
            <a:ext cx="3145536" cy="1161288"/>
          </a:xfrm>
          <a:prstGeom prst="rect">
            <a:avLst/>
          </a:prstGeom>
          <a:noFill/>
        </p:spPr>
        <p:txBody>
          <a:bodyPr wrap="none" lIns="0" rIns="0" tIns="0" bIns="0">
            <a:spAutoFit/>
          </a:bodyPr>
          <a:lstStyle/>
          <a:p>
            <a:pPr>
              <a:lnSpc>
                <a:spcPts val="2684"/>
              </a:lnSpc>
              <a:spcBef>
                <a:spcPts val="0"/>
              </a:spcBef>
              <a:spcAft>
                <a:spcPts val="0"/>
              </a:spcAft>
              <a:defRPr sz="2200" b="0">
                <a:solidFill>
                  <a:srgbClr val="11283F"/>
                </a:solidFill>
                <a:latin typeface="DejaVu Sans"/>
              </a:defRPr>
            </a:pPr>
            <a:r>
              <a:t>3×(2−1) = 3</a:t>
            </a:r>
          </a:p>
          <a:p>
            <a:pPr>
              <a:lnSpc>
                <a:spcPts val="2684"/>
              </a:lnSpc>
              <a:spcBef>
                <a:spcPts val="0"/>
              </a:spcBef>
              <a:spcAft>
                <a:spcPts val="0"/>
              </a:spcAft>
              <a:defRPr sz="2200" b="0">
                <a:solidFill>
                  <a:srgbClr val="11283F"/>
                </a:solidFill>
                <a:latin typeface="DejaVu Sans"/>
              </a:defRPr>
            </a:pPr>
            <a:r>
              <a:t>2×(5−2) = 6</a:t>
            </a:r>
          </a:p>
        </p:txBody>
      </p:sp>
      <p:sp>
        <p:nvSpPr>
          <p:cNvPr id="18" name="Rectangle 17"/>
          <p:cNvSpPr/>
          <p:nvPr/>
        </p:nvSpPr>
        <p:spPr>
          <a:xfrm>
            <a:off x="8046720" y="2743200"/>
            <a:ext cx="3474720" cy="19202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743200"/>
            <a:ext cx="41148" cy="19202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889504"/>
            <a:ext cx="314553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RECONSTRUCTION</a:t>
            </a:r>
          </a:p>
        </p:txBody>
      </p:sp>
      <p:sp>
        <p:nvSpPr>
          <p:cNvPr id="21" name="TextBox 20"/>
          <p:cNvSpPr txBox="1"/>
          <p:nvPr/>
        </p:nvSpPr>
        <p:spPr>
          <a:xfrm>
            <a:off x="8211312" y="3410712"/>
            <a:ext cx="3145536" cy="1161288"/>
          </a:xfrm>
          <a:prstGeom prst="rect">
            <a:avLst/>
          </a:prstGeom>
          <a:noFill/>
        </p:spPr>
        <p:txBody>
          <a:bodyPr wrap="none" lIns="0" rIns="0" tIns="0" bIns="0">
            <a:spAutoFit/>
          </a:bodyPr>
          <a:lstStyle/>
          <a:p>
            <a:pPr>
              <a:lnSpc>
                <a:spcPts val="2806"/>
              </a:lnSpc>
              <a:spcBef>
                <a:spcPts val="0"/>
              </a:spcBef>
              <a:spcAft>
                <a:spcPts val="0"/>
              </a:spcAft>
              <a:defRPr sz="2300" b="0">
                <a:solidFill>
                  <a:srgbClr val="11283F"/>
                </a:solidFill>
                <a:latin typeface="DejaVu Sans"/>
              </a:defRPr>
            </a:pPr>
            <a:r>
              <a:t>7 + 3 + 6 = 16</a:t>
            </a:r>
          </a:p>
        </p:txBody>
      </p:sp>
      <p:sp>
        <p:nvSpPr>
          <p:cNvPr id="22" name="TextBox 21"/>
          <p:cNvSpPr txBox="1"/>
          <p:nvPr/>
        </p:nvSpPr>
        <p:spPr>
          <a:xfrm>
            <a:off x="731520" y="5120640"/>
            <a:ext cx="10789920" cy="594360"/>
          </a:xfrm>
          <a:prstGeom prst="rect">
            <a:avLst/>
          </a:prstGeom>
          <a:noFill/>
        </p:spPr>
        <p:txBody>
          <a:bodyPr wrap="none" lIns="0" rIns="0" tIns="0" bIns="0">
            <a:spAutoFit/>
          </a:bodyPr>
          <a:lstStyle/>
          <a:p>
            <a:pPr>
              <a:lnSpc>
                <a:spcPts val="2318"/>
              </a:lnSpc>
              <a:spcBef>
                <a:spcPts val="0"/>
              </a:spcBef>
              <a:spcAft>
                <a:spcPts val="0"/>
              </a:spcAft>
              <a:defRPr sz="1900" b="1">
                <a:solidFill>
                  <a:srgbClr val="087F8C"/>
                </a:solidFill>
                <a:latin typeface="DejaVu Sans"/>
              </a:defRPr>
            </a:pPr>
            <a:r>
              <a:t>Always state the explained output scale. The pilot explains log-odds, not</a:t>
            </a:r>
          </a:p>
          <a:p>
            <a:pPr>
              <a:lnSpc>
                <a:spcPts val="2318"/>
              </a:lnSpc>
              <a:spcBef>
                <a:spcPts val="0"/>
              </a:spcBef>
              <a:spcAft>
                <a:spcPts val="0"/>
              </a:spcAft>
              <a:defRPr sz="1900" b="1">
                <a:solidFill>
                  <a:srgbClr val="087F8C"/>
                </a:solidFill>
                <a:latin typeface="DejaVu Sans"/>
              </a:defRPr>
            </a:pPr>
            <a:r>
              <a:t>percentage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04 • INFORMATION LOSS</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Stable summaries can conceal different things</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Coalition sum versus grouped game: groupShapley [S04]. Worked numbers are illustrative.</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8</a:t>
            </a:r>
          </a:p>
        </p:txBody>
      </p:sp>
      <p:sp>
        <p:nvSpPr>
          <p:cNvPr id="9" name="Rectangle 8"/>
          <p:cNvSpPr/>
          <p:nvPr/>
        </p:nvSpPr>
        <p:spPr>
          <a:xfrm>
            <a:off x="548640" y="1645920"/>
            <a:ext cx="5394960" cy="3291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41148" cy="3291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922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CANCELLATION</a:t>
            </a:r>
          </a:p>
        </p:txBody>
      </p:sp>
      <p:sp>
        <p:nvSpPr>
          <p:cNvPr id="12" name="TextBox 11"/>
          <p:cNvSpPr txBox="1"/>
          <p:nvPr/>
        </p:nvSpPr>
        <p:spPr>
          <a:xfrm>
            <a:off x="713232" y="2313432"/>
            <a:ext cx="5065776" cy="2532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Feature credits: +5 and −4.8</a:t>
            </a:r>
          </a:p>
          <a:p>
            <a:pPr>
              <a:lnSpc>
                <a:spcPts val="2440"/>
              </a:lnSpc>
              <a:spcBef>
                <a:spcPts val="0"/>
              </a:spcBef>
              <a:spcAft>
                <a:spcPts val="0"/>
              </a:spcAft>
              <a:defRPr sz="2000" b="0">
                <a:solidFill>
                  <a:srgbClr val="11283F"/>
                </a:solidFill>
                <a:latin typeface="DejaVu Sans"/>
              </a:defRPr>
            </a:pPr>
            <a:r>
              <a:t>Net group contribution: 0.2</a:t>
            </a:r>
          </a:p>
          <a:p>
            <a:pPr>
              <a:lnSpc>
                <a:spcPts val="2440"/>
              </a:lnSpc>
              <a:spcBef>
                <a:spcPts val="0"/>
              </a:spcBef>
              <a:spcAft>
                <a:spcPts val="0"/>
              </a:spcAft>
              <a:defRPr sz="2000" b="0">
                <a:solidFill>
                  <a:srgbClr val="11283F"/>
                </a:solidFill>
                <a:latin typeface="DejaVu Sans"/>
              </a:defRPr>
            </a:pPr>
            <a:r>
              <a:t>Unsigned internal mass: 9.8</a:t>
            </a:r>
          </a:p>
          <a:p>
            <a:pPr>
              <a:lnSpc>
                <a:spcPts val="2440"/>
              </a:lnSpc>
              <a:spcBef>
                <a:spcPts val="0"/>
              </a:spcBef>
              <a:spcAft>
                <a:spcPts val="0"/>
              </a:spcAft>
              <a:defRPr sz="2000" b="0">
                <a:solidFill>
                  <a:srgbClr val="11283F"/>
                </a:solidFill>
                <a:latin typeface="DejaVu Sans"/>
              </a:defRPr>
            </a:pPr>
            <a:r>
              <a:t>A stable net can hide strong</a:t>
            </a:r>
          </a:p>
          <a:p>
            <a:pPr>
              <a:lnSpc>
                <a:spcPts val="2440"/>
              </a:lnSpc>
              <a:spcBef>
                <a:spcPts val="0"/>
              </a:spcBef>
              <a:spcAft>
                <a:spcPts val="0"/>
              </a:spcAft>
              <a:defRPr sz="2000" b="0">
                <a:solidFill>
                  <a:srgbClr val="11283F"/>
                </a:solidFill>
                <a:latin typeface="DejaVu Sans"/>
              </a:defRPr>
            </a:pPr>
            <a:r>
              <a:t>components.</a:t>
            </a:r>
          </a:p>
        </p:txBody>
      </p:sp>
      <p:sp>
        <p:nvSpPr>
          <p:cNvPr id="13" name="Rectangle 12"/>
          <p:cNvSpPr/>
          <p:nvPr/>
        </p:nvSpPr>
        <p:spPr>
          <a:xfrm>
            <a:off x="6126480" y="1645920"/>
            <a:ext cx="5394960" cy="3291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645920"/>
            <a:ext cx="41148" cy="3291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7922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GROUPING CHANGES THE GAME</a:t>
            </a:r>
          </a:p>
        </p:txBody>
      </p:sp>
      <p:sp>
        <p:nvSpPr>
          <p:cNvPr id="16" name="TextBox 15"/>
          <p:cNvSpPr txBox="1"/>
          <p:nvPr/>
        </p:nvSpPr>
        <p:spPr>
          <a:xfrm>
            <a:off x="6291072" y="2313432"/>
            <a:ext cx="5065776" cy="2532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Three-player unanimity game:</a:t>
            </a:r>
          </a:p>
          <a:p>
            <a:pPr>
              <a:lnSpc>
                <a:spcPts val="2440"/>
              </a:lnSpc>
              <a:spcBef>
                <a:spcPts val="0"/>
              </a:spcBef>
              <a:spcAft>
                <a:spcPts val="0"/>
              </a:spcAft>
              <a:defRPr sz="2000" b="0">
                <a:solidFill>
                  <a:srgbClr val="11283F"/>
                </a:solidFill>
                <a:latin typeface="DejaVu Sans"/>
              </a:defRPr>
            </a:pPr>
            <a:r>
              <a:t>ordinary A + B = 2/3</a:t>
            </a:r>
          </a:p>
          <a:p>
            <a:pPr>
              <a:lnSpc>
                <a:spcPts val="2440"/>
              </a:lnSpc>
              <a:spcBef>
                <a:spcPts val="0"/>
              </a:spcBef>
              <a:spcAft>
                <a:spcPts val="0"/>
              </a:spcAft>
              <a:defRPr sz="2000" b="0">
                <a:solidFill>
                  <a:srgbClr val="11283F"/>
                </a:solidFill>
                <a:latin typeface="DejaVu Sans"/>
              </a:defRPr>
            </a:pPr>
            <a:r>
              <a:t>merged {A,B} group = 1/2</a:t>
            </a:r>
          </a:p>
          <a:p>
            <a:pPr>
              <a:lnSpc>
                <a:spcPts val="2440"/>
              </a:lnSpc>
              <a:spcBef>
                <a:spcPts val="0"/>
              </a:spcBef>
              <a:spcAft>
                <a:spcPts val="0"/>
              </a:spcAft>
              <a:defRPr sz="2000" b="0">
                <a:solidFill>
                  <a:srgbClr val="11283F"/>
                </a:solidFill>
                <a:latin typeface="DejaVu Sans"/>
              </a:defRPr>
            </a:pPr>
            <a:r>
              <a:t>Coalition sum ≠ exact group value.</a:t>
            </a:r>
          </a:p>
        </p:txBody>
      </p:sp>
      <p:sp>
        <p:nvSpPr>
          <p:cNvPr id="17" name="TextBox 16"/>
          <p:cNvSpPr txBox="1"/>
          <p:nvPr/>
        </p:nvSpPr>
        <p:spPr>
          <a:xfrm>
            <a:off x="594360" y="5303520"/>
            <a:ext cx="10972800" cy="594360"/>
          </a:xfrm>
          <a:prstGeom prst="rect">
            <a:avLst/>
          </a:prstGeom>
          <a:noFill/>
        </p:spPr>
        <p:txBody>
          <a:bodyPr wrap="none" lIns="0" rIns="0" tIns="0" bIns="0">
            <a:spAutoFit/>
          </a:bodyPr>
          <a:lstStyle/>
          <a:p>
            <a:pPr>
              <a:lnSpc>
                <a:spcPts val="2318"/>
              </a:lnSpc>
              <a:spcBef>
                <a:spcPts val="0"/>
              </a:spcBef>
              <a:spcAft>
                <a:spcPts val="0"/>
              </a:spcAft>
              <a:defRPr sz="1900" b="1">
                <a:solidFill>
                  <a:srgbClr val="087F8C"/>
                </a:solidFill>
                <a:latin typeface="DejaVu Sans"/>
              </a:defRPr>
            </a:pPr>
            <a:r>
              <a:t>Retain group summaries AND feature drill-down; test interactions with a small</a:t>
            </a:r>
          </a:p>
          <a:p>
            <a:pPr>
              <a:lnSpc>
                <a:spcPts val="2318"/>
              </a:lnSpc>
              <a:spcBef>
                <a:spcPts val="0"/>
              </a:spcBef>
              <a:spcAft>
                <a:spcPts val="0"/>
              </a:spcAft>
              <a:defRPr sz="1900" b="1">
                <a:solidFill>
                  <a:srgbClr val="087F8C"/>
                </a:solidFill>
                <a:latin typeface="DejaVu Sans"/>
              </a:defRPr>
            </a:pPr>
            <a:r>
              <a:t>exact oracle.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05 • ACTUAL EXECUTED WORK</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Pilot provenance and what its numbers mean</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Official UCI dataset 350, CC BY 4.0 | https://doi.org/10.24432/C55S3H | SHA256 and versions in pilot.json</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9</a:t>
            </a:r>
          </a:p>
        </p:txBody>
      </p:sp>
      <p:sp>
        <p:nvSpPr>
          <p:cNvPr id="9" name="Rectangle 8"/>
          <p:cNvSpPr/>
          <p:nvPr/>
        </p:nvSpPr>
        <p:spPr>
          <a:xfrm>
            <a:off x="548640" y="1600200"/>
            <a:ext cx="5394960" cy="3977639"/>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00200"/>
            <a:ext cx="41148" cy="3977639"/>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4650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DATA + MODEL</a:t>
            </a:r>
          </a:p>
        </p:txBody>
      </p:sp>
      <p:sp>
        <p:nvSpPr>
          <p:cNvPr id="12" name="TextBox 11"/>
          <p:cNvSpPr txBox="1"/>
          <p:nvPr/>
        </p:nvSpPr>
        <p:spPr>
          <a:xfrm>
            <a:off x="713232" y="2267712"/>
            <a:ext cx="5065776" cy="3218687"/>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30,000 observed customer records</a:t>
            </a:r>
          </a:p>
          <a:p>
            <a:pPr>
              <a:lnSpc>
                <a:spcPts val="2196"/>
              </a:lnSpc>
              <a:spcBef>
                <a:spcPts val="0"/>
              </a:spcBef>
              <a:spcAft>
                <a:spcPts val="0"/>
              </a:spcAft>
              <a:defRPr sz="1800" b="0">
                <a:solidFill>
                  <a:srgbClr val="11283F"/>
                </a:solidFill>
                <a:latin typeface="DejaVu Sans"/>
              </a:defRPr>
            </a:pPr>
            <a:r>
              <a:t>19 numeric inputs after exclusions</a:t>
            </a:r>
          </a:p>
          <a:p>
            <a:pPr>
              <a:lnSpc>
                <a:spcPts val="2196"/>
              </a:lnSpc>
              <a:spcBef>
                <a:spcPts val="0"/>
              </a:spcBef>
              <a:spcAft>
                <a:spcPts val="0"/>
              </a:spcAft>
              <a:defRPr sz="1800" b="0">
                <a:solidFill>
                  <a:srgbClr val="11283F"/>
                </a:solidFill>
                <a:latin typeface="DejaVu Sans"/>
              </a:defRPr>
            </a:pPr>
            <a:r>
              <a:t>24,000 train / 6,000 test</a:t>
            </a:r>
          </a:p>
          <a:p>
            <a:pPr>
              <a:lnSpc>
                <a:spcPts val="2196"/>
              </a:lnSpc>
              <a:spcBef>
                <a:spcPts val="0"/>
              </a:spcBef>
              <a:spcAft>
                <a:spcPts val="0"/>
              </a:spcAft>
              <a:defRPr sz="1800" b="0">
                <a:solidFill>
                  <a:srgbClr val="11283F"/>
                </a:solidFill>
                <a:latin typeface="DejaVu Sans"/>
              </a:defRPr>
            </a:pPr>
            <a:r>
              <a:t>500 held-out audit rows</a:t>
            </a:r>
          </a:p>
          <a:p>
            <a:pPr>
              <a:lnSpc>
                <a:spcPts val="2196"/>
              </a:lnSpc>
              <a:spcBef>
                <a:spcPts val="0"/>
              </a:spcBef>
              <a:spcAft>
                <a:spcPts val="0"/>
              </a:spcAft>
              <a:defRPr sz="1800" b="0">
                <a:solidFill>
                  <a:srgbClr val="11283F"/>
                </a:solidFill>
                <a:latin typeface="DejaVu Sans"/>
              </a:defRPr>
            </a:pPr>
            <a:r>
              <a:t>10 bootstrap logistic models</a:t>
            </a:r>
          </a:p>
          <a:p>
            <a:pPr>
              <a:lnSpc>
                <a:spcPts val="2196"/>
              </a:lnSpc>
              <a:spcBef>
                <a:spcPts val="0"/>
              </a:spcBef>
              <a:spcAft>
                <a:spcPts val="0"/>
              </a:spcAft>
              <a:defRPr sz="1800" b="0">
                <a:solidFill>
                  <a:srgbClr val="11283F"/>
                </a:solidFill>
                <a:latin typeface="DejaVu Sans"/>
              </a:defRPr>
            </a:pPr>
            <a:r>
              <a:t>Exact interventional logit attribution</a:t>
            </a:r>
          </a:p>
        </p:txBody>
      </p:sp>
      <p:sp>
        <p:nvSpPr>
          <p:cNvPr id="13" name="Rectangle 12"/>
          <p:cNvSpPr/>
          <p:nvPr/>
        </p:nvSpPr>
        <p:spPr>
          <a:xfrm>
            <a:off x="6126480" y="1600200"/>
            <a:ext cx="5394960" cy="3977639"/>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600200"/>
            <a:ext cx="41148" cy="3977639"/>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74650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MEASUREMENTS</a:t>
            </a:r>
          </a:p>
        </p:txBody>
      </p:sp>
      <p:sp>
        <p:nvSpPr>
          <p:cNvPr id="16" name="TextBox 15"/>
          <p:cNvSpPr txBox="1"/>
          <p:nvPr/>
        </p:nvSpPr>
        <p:spPr>
          <a:xfrm>
            <a:off x="6291072" y="2267712"/>
            <a:ext cx="5065776" cy="3218687"/>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19-feature RBO: 0.776</a:t>
            </a:r>
          </a:p>
          <a:p>
            <a:pPr>
              <a:lnSpc>
                <a:spcPts val="2196"/>
              </a:lnSpc>
              <a:spcBef>
                <a:spcPts val="0"/>
              </a:spcBef>
              <a:spcAft>
                <a:spcPts val="0"/>
              </a:spcAft>
              <a:defRPr sz="1800" b="0">
                <a:solidFill>
                  <a:srgbClr val="11283F"/>
                </a:solidFill>
                <a:latin typeface="DejaVu Sans"/>
              </a:defRPr>
            </a:pPr>
            <a:r>
              <a:t>11-group RBO: 0.924</a:t>
            </a:r>
          </a:p>
          <a:p>
            <a:pPr>
              <a:lnSpc>
                <a:spcPts val="2196"/>
              </a:lnSpc>
              <a:spcBef>
                <a:spcPts val="0"/>
              </a:spcBef>
              <a:spcAft>
                <a:spcPts val="0"/>
              </a:spcAft>
              <a:defRPr sz="1800" b="0">
                <a:solidFill>
                  <a:srgbClr val="11283F"/>
                </a:solidFill>
                <a:latin typeface="DejaVu Sans"/>
              </a:defRPr>
            </a:pPr>
            <a:r>
              <a:t>Size-matched random RBO: 0.863</a:t>
            </a:r>
          </a:p>
          <a:p>
            <a:pPr>
              <a:lnSpc>
                <a:spcPts val="2196"/>
              </a:lnSpc>
              <a:spcBef>
                <a:spcPts val="0"/>
              </a:spcBef>
              <a:spcAft>
                <a:spcPts val="0"/>
              </a:spcAft>
              <a:defRPr sz="1800" b="0">
                <a:solidFill>
                  <a:srgbClr val="11283F"/>
                </a:solidFill>
                <a:latin typeface="DejaVu Sans"/>
              </a:defRPr>
            </a:pPr>
            <a:r>
              <a:t>Controlled difference: +0.061</a:t>
            </a:r>
          </a:p>
          <a:p>
            <a:pPr>
              <a:lnSpc>
                <a:spcPts val="2196"/>
              </a:lnSpc>
              <a:spcBef>
                <a:spcPts val="0"/>
              </a:spcBef>
              <a:spcAft>
                <a:spcPts val="0"/>
              </a:spcAft>
              <a:defRPr sz="1800" b="0">
                <a:solidFill>
                  <a:srgbClr val="11283F"/>
                </a:solidFill>
                <a:latin typeface="DejaVu Sans"/>
              </a:defRPr>
            </a:pPr>
            <a:r>
              <a:t>Max reconstruction error: 2.22e−15</a:t>
            </a:r>
          </a:p>
          <a:p>
            <a:pPr>
              <a:lnSpc>
                <a:spcPts val="2196"/>
              </a:lnSpc>
              <a:spcBef>
                <a:spcPts val="0"/>
              </a:spcBef>
              <a:spcAft>
                <a:spcPts val="0"/>
              </a:spcAft>
              <a:defRPr sz="1800" b="0">
                <a:solidFill>
                  <a:srgbClr val="11283F"/>
                </a:solidFill>
                <a:latin typeface="DejaVu Sans"/>
              </a:defRPr>
            </a:pPr>
            <a:r>
              <a:t>No inferential p-value claimed</a:t>
            </a:r>
          </a:p>
        </p:txBody>
      </p:sp>
      <p:sp>
        <p:nvSpPr>
          <p:cNvPr id="17" name="TextBox 16"/>
          <p:cNvSpPr txBox="1"/>
          <p:nvPr/>
        </p:nvSpPr>
        <p:spPr>
          <a:xfrm>
            <a:off x="594360" y="5806440"/>
            <a:ext cx="10972800" cy="274320"/>
          </a:xfrm>
          <a:prstGeom prst="rect">
            <a:avLst/>
          </a:prstGeom>
          <a:noFill/>
        </p:spPr>
        <p:txBody>
          <a:bodyPr wrap="none" lIns="0" rIns="0" tIns="0" bIns="0">
            <a:spAutoFit/>
          </a:bodyPr>
          <a:lstStyle/>
          <a:p>
            <a:pPr>
              <a:lnSpc>
                <a:spcPts val="1707"/>
              </a:lnSpc>
              <a:spcBef>
                <a:spcPts val="0"/>
              </a:spcBef>
              <a:spcAft>
                <a:spcPts val="0"/>
              </a:spcAft>
              <a:defRPr sz="1400" b="1">
                <a:solidFill>
                  <a:srgbClr val="BC7412"/>
                </a:solidFill>
                <a:latin typeface="DejaVu Sans"/>
              </a:defRPr>
            </a:pPr>
            <a:r>
              <a:t>Single split + simple model + fixed partition. Fidelity, second dataset and full benchmark remain unrun.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06 • RESEARCH DESIGN</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354"/>
              </a:lnSpc>
              <a:spcBef>
                <a:spcPts val="0"/>
              </a:spcBef>
              <a:spcAft>
                <a:spcPts val="0"/>
              </a:spcAft>
              <a:defRPr sz="2750" b="1">
                <a:solidFill>
                  <a:srgbClr val="11283F"/>
                </a:solidFill>
                <a:latin typeface="DejaVu Sans"/>
              </a:defRPr>
            </a:pPr>
            <a:r>
              <a:t>Full experiment: isolate one source of change at a time</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DTU • [Student name] • [Roll number] • Prof. Rahul Gupta • 28 October 2026</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10</a:t>
            </a:r>
          </a:p>
        </p:txBody>
      </p:sp>
      <p:sp>
        <p:nvSpPr>
          <p:cNvPr id="9" name="TextBox 8"/>
          <p:cNvSpPr txBox="1"/>
          <p:nvPr/>
        </p:nvSpPr>
        <p:spPr>
          <a:xfrm>
            <a:off x="640080" y="1600200"/>
            <a:ext cx="10881360" cy="630936"/>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Data: controlled synthetic cases + UCI; verified HELOC if available.</a:t>
            </a:r>
          </a:p>
        </p:txBody>
      </p:sp>
      <p:sp>
        <p:nvSpPr>
          <p:cNvPr id="10" name="TextBox 9"/>
          <p:cNvSpPr txBox="1"/>
          <p:nvPr/>
        </p:nvSpPr>
        <p:spPr>
          <a:xfrm>
            <a:off x="640080" y="2304288"/>
            <a:ext cx="10881360" cy="630936"/>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Models: logistic regression first; one small tree ensemble next.</a:t>
            </a:r>
          </a:p>
        </p:txBody>
      </p:sp>
      <p:sp>
        <p:nvSpPr>
          <p:cNvPr id="11" name="TextBox 10"/>
          <p:cNvSpPr txBox="1"/>
          <p:nvPr/>
        </p:nvSpPr>
        <p:spPr>
          <a:xfrm>
            <a:off x="640080" y="3008376"/>
            <a:ext cx="10881360" cy="630936"/>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Split: 60% train / 20% development / 20% locked test.</a:t>
            </a:r>
          </a:p>
        </p:txBody>
      </p:sp>
      <p:sp>
        <p:nvSpPr>
          <p:cNvPr id="12" name="TextBox 11"/>
          <p:cNvSpPr txBox="1"/>
          <p:nvPr/>
        </p:nvSpPr>
        <p:spPr>
          <a:xfrm>
            <a:off x="640080" y="3712464"/>
            <a:ext cx="10881360" cy="630936"/>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Separate: model resampling, explainer sampling and reclustering.</a:t>
            </a:r>
          </a:p>
        </p:txBody>
      </p:sp>
      <p:sp>
        <p:nvSpPr>
          <p:cNvPr id="13" name="TextBox 12"/>
          <p:cNvSpPr txBox="1"/>
          <p:nvPr/>
        </p:nvSpPr>
        <p:spPr>
          <a:xfrm>
            <a:off x="640080" y="4416552"/>
            <a:ext cx="10881360" cy="630936"/>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Controls: singleton, random same-size, domain and giant groups.</a:t>
            </a:r>
          </a:p>
        </p:txBody>
      </p:sp>
      <p:sp>
        <p:nvSpPr>
          <p:cNvPr id="14" name="TextBox 13"/>
          <p:cNvSpPr txBox="1"/>
          <p:nvPr/>
        </p:nvSpPr>
        <p:spPr>
          <a:xfrm>
            <a:off x="640080" y="5120640"/>
            <a:ext cx="10881360" cy="630936"/>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 Small exact group games verify additive and interaction cases.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07 • METRICS</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Evaluation must measure more than consistency</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DTU • [Student name] • [Roll number] • Prof. Rahul Gupta • 28 October 2026</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11</a:t>
            </a:r>
          </a:p>
        </p:txBody>
      </p:sp>
      <p:sp>
        <p:nvSpPr>
          <p:cNvPr id="9" name="Rectangle 8"/>
          <p:cNvSpPr/>
          <p:nvPr/>
        </p:nvSpPr>
        <p:spPr>
          <a:xfrm>
            <a:off x="594360" y="1554480"/>
            <a:ext cx="10972800" cy="932688"/>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39"/>
            <a:ext cx="2880360" cy="548640"/>
          </a:xfrm>
          <a:prstGeom prst="rect">
            <a:avLst/>
          </a:prstGeom>
          <a:noFill/>
        </p:spPr>
        <p:txBody>
          <a:bodyPr wrap="none" lIns="0" rIns="0" tIns="0" bIns="0">
            <a:spAutoFit/>
          </a:bodyPr>
          <a:lstStyle/>
          <a:p>
            <a:pPr>
              <a:lnSpc>
                <a:spcPts val="2318"/>
              </a:lnSpc>
              <a:spcBef>
                <a:spcPts val="0"/>
              </a:spcBef>
              <a:spcAft>
                <a:spcPts val="0"/>
              </a:spcAft>
              <a:defRPr sz="1900" b="1">
                <a:solidFill>
                  <a:srgbClr val="087F8C"/>
                </a:solidFill>
                <a:latin typeface="DejaVu Sans"/>
              </a:defRPr>
            </a:pPr>
            <a:r>
              <a:t>Stability</a:t>
            </a:r>
          </a:p>
        </p:txBody>
      </p:sp>
      <p:sp>
        <p:nvSpPr>
          <p:cNvPr id="11" name="TextBox 10"/>
          <p:cNvSpPr txBox="1"/>
          <p:nvPr/>
        </p:nvSpPr>
        <p:spPr>
          <a:xfrm>
            <a:off x="3931920" y="1691639"/>
            <a:ext cx="7360920" cy="594360"/>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RBO at p=.85; sensitivity at .7/.95; fixed audit individuals.</a:t>
            </a:r>
          </a:p>
        </p:txBody>
      </p:sp>
      <p:sp>
        <p:nvSpPr>
          <p:cNvPr id="12" name="Rectangle 11"/>
          <p:cNvSpPr/>
          <p:nvPr/>
        </p:nvSpPr>
        <p:spPr>
          <a:xfrm>
            <a:off x="594360" y="2633472"/>
            <a:ext cx="10972800" cy="932688"/>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70632"/>
            <a:ext cx="2880360" cy="548640"/>
          </a:xfrm>
          <a:prstGeom prst="rect">
            <a:avLst/>
          </a:prstGeom>
          <a:noFill/>
        </p:spPr>
        <p:txBody>
          <a:bodyPr wrap="none" lIns="0" rIns="0" tIns="0" bIns="0">
            <a:spAutoFit/>
          </a:bodyPr>
          <a:lstStyle/>
          <a:p>
            <a:pPr>
              <a:lnSpc>
                <a:spcPts val="2318"/>
              </a:lnSpc>
              <a:spcBef>
                <a:spcPts val="0"/>
              </a:spcBef>
              <a:spcAft>
                <a:spcPts val="0"/>
              </a:spcAft>
              <a:defRPr sz="1900" b="1">
                <a:solidFill>
                  <a:srgbClr val="087F8C"/>
                </a:solidFill>
                <a:latin typeface="DejaVu Sans"/>
              </a:defRPr>
            </a:pPr>
            <a:r>
              <a:t>Controlled gain</a:t>
            </a:r>
          </a:p>
        </p:txBody>
      </p:sp>
      <p:sp>
        <p:nvSpPr>
          <p:cNvPr id="14" name="TextBox 13"/>
          <p:cNvSpPr txBox="1"/>
          <p:nvPr/>
        </p:nvSpPr>
        <p:spPr>
          <a:xfrm>
            <a:off x="3931920" y="2770632"/>
            <a:ext cx="7360920" cy="594360"/>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Correlation-group stability minus size-matched random-group</a:t>
            </a:r>
          </a:p>
          <a:p>
            <a:pPr>
              <a:lnSpc>
                <a:spcPts val="2196"/>
              </a:lnSpc>
              <a:spcBef>
                <a:spcPts val="0"/>
              </a:spcBef>
              <a:spcAft>
                <a:spcPts val="0"/>
              </a:spcAft>
              <a:defRPr sz="1800" b="0">
                <a:solidFill>
                  <a:srgbClr val="11283F"/>
                </a:solidFill>
                <a:latin typeface="DejaVu Sans"/>
              </a:defRPr>
            </a:pPr>
            <a:r>
              <a:t>stability.</a:t>
            </a:r>
          </a:p>
        </p:txBody>
      </p:sp>
      <p:sp>
        <p:nvSpPr>
          <p:cNvPr id="15" name="Rectangle 14"/>
          <p:cNvSpPr/>
          <p:nvPr/>
        </p:nvSpPr>
        <p:spPr>
          <a:xfrm>
            <a:off x="594360" y="3712463"/>
            <a:ext cx="10972800" cy="932688"/>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849624"/>
            <a:ext cx="2880360" cy="548640"/>
          </a:xfrm>
          <a:prstGeom prst="rect">
            <a:avLst/>
          </a:prstGeom>
          <a:noFill/>
        </p:spPr>
        <p:txBody>
          <a:bodyPr wrap="none" lIns="0" rIns="0" tIns="0" bIns="0">
            <a:spAutoFit/>
          </a:bodyPr>
          <a:lstStyle/>
          <a:p>
            <a:pPr>
              <a:lnSpc>
                <a:spcPts val="2257"/>
              </a:lnSpc>
              <a:spcBef>
                <a:spcPts val="0"/>
              </a:spcBef>
              <a:spcAft>
                <a:spcPts val="0"/>
              </a:spcAft>
              <a:defRPr sz="1850" b="1">
                <a:solidFill>
                  <a:srgbClr val="087F8C"/>
                </a:solidFill>
                <a:latin typeface="DejaVu Sans"/>
              </a:defRPr>
            </a:pPr>
            <a:r>
              <a:t>Retained information</a:t>
            </a:r>
          </a:p>
        </p:txBody>
      </p:sp>
      <p:sp>
        <p:nvSpPr>
          <p:cNvPr id="17" name="TextBox 16"/>
          <p:cNvSpPr txBox="1"/>
          <p:nvPr/>
        </p:nvSpPr>
        <p:spPr>
          <a:xfrm>
            <a:off x="3931920" y="3849624"/>
            <a:ext cx="7360920" cy="594360"/>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Cancellation, drill-down, exact synthetic error and masker</a:t>
            </a:r>
          </a:p>
          <a:p>
            <a:pPr>
              <a:lnSpc>
                <a:spcPts val="2196"/>
              </a:lnSpc>
              <a:spcBef>
                <a:spcPts val="0"/>
              </a:spcBef>
              <a:spcAft>
                <a:spcPts val="0"/>
              </a:spcAft>
              <a:defRPr sz="1800" b="0">
                <a:solidFill>
                  <a:srgbClr val="11283F"/>
                </a:solidFill>
                <a:latin typeface="DejaVu Sans"/>
              </a:defRPr>
            </a:pPr>
            <a:r>
              <a:t>sensitivity.</a:t>
            </a:r>
          </a:p>
        </p:txBody>
      </p:sp>
      <p:sp>
        <p:nvSpPr>
          <p:cNvPr id="18" name="Rectangle 17"/>
          <p:cNvSpPr/>
          <p:nvPr/>
        </p:nvSpPr>
        <p:spPr>
          <a:xfrm>
            <a:off x="594360" y="4791456"/>
            <a:ext cx="10972800" cy="932688"/>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28616"/>
            <a:ext cx="2880360" cy="548640"/>
          </a:xfrm>
          <a:prstGeom prst="rect">
            <a:avLst/>
          </a:prstGeom>
          <a:noFill/>
        </p:spPr>
        <p:txBody>
          <a:bodyPr wrap="none" lIns="0" rIns="0" tIns="0" bIns="0">
            <a:spAutoFit/>
          </a:bodyPr>
          <a:lstStyle/>
          <a:p>
            <a:pPr>
              <a:lnSpc>
                <a:spcPts val="2318"/>
              </a:lnSpc>
              <a:spcBef>
                <a:spcPts val="0"/>
              </a:spcBef>
              <a:spcAft>
                <a:spcPts val="0"/>
              </a:spcAft>
              <a:defRPr sz="1900" b="1">
                <a:solidFill>
                  <a:srgbClr val="087F8C"/>
                </a:solidFill>
                <a:latin typeface="DejaVu Sans"/>
              </a:defRPr>
            </a:pPr>
            <a:r>
              <a:t>Model + uncertainty</a:t>
            </a:r>
          </a:p>
        </p:txBody>
      </p:sp>
      <p:sp>
        <p:nvSpPr>
          <p:cNvPr id="20" name="TextBox 19"/>
          <p:cNvSpPr txBox="1"/>
          <p:nvPr/>
        </p:nvSpPr>
        <p:spPr>
          <a:xfrm>
            <a:off x="3931920" y="4928616"/>
            <a:ext cx="7360920" cy="594360"/>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AP / AUC / Brier; paired effects; honest conditional uncertainty.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08 • NEGATIVE RESULTS</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What would falsify the project hypothesis?</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DTU • [Student name] • [Roll number] • Prof. Rahul Gupta • 28 October 2026</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12</a:t>
            </a:r>
          </a:p>
        </p:txBody>
      </p:sp>
      <p:sp>
        <p:nvSpPr>
          <p:cNvPr id="9" name="Rectangle 8"/>
          <p:cNvSpPr/>
          <p:nvPr/>
        </p:nvSpPr>
        <p:spPr>
          <a:xfrm>
            <a:off x="548640" y="1645920"/>
            <a:ext cx="5394960" cy="347472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41148" cy="3474720"/>
          </a:xfrm>
          <a:prstGeom prst="rect">
            <a:avLst/>
          </a:prstGeom>
          <a:solidFill>
            <a:srgbClr val="BC7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922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BC7412"/>
                </a:solidFill>
                <a:latin typeface="DejaVu Sans"/>
              </a:defRPr>
            </a:pPr>
            <a:r>
              <a:t>EVIDENCE AGAINST</a:t>
            </a:r>
          </a:p>
        </p:txBody>
      </p:sp>
      <p:sp>
        <p:nvSpPr>
          <p:cNvPr id="12" name="TextBox 11"/>
          <p:cNvSpPr txBox="1"/>
          <p:nvPr/>
        </p:nvSpPr>
        <p:spPr>
          <a:xfrm>
            <a:off x="713232" y="2313432"/>
            <a:ext cx="5065776" cy="271576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Random groups perform equally well.</a:t>
            </a:r>
          </a:p>
          <a:p>
            <a:pPr>
              <a:lnSpc>
                <a:spcPts val="2440"/>
              </a:lnSpc>
              <a:spcBef>
                <a:spcPts val="0"/>
              </a:spcBef>
              <a:spcAft>
                <a:spcPts val="0"/>
              </a:spcAft>
              <a:defRPr sz="2000" b="0">
                <a:solidFill>
                  <a:srgbClr val="11283F"/>
                </a:solidFill>
                <a:latin typeface="DejaVu Sans"/>
              </a:defRPr>
            </a:pPr>
            <a:r>
              <a:t>Information loss offsets stability.</a:t>
            </a:r>
          </a:p>
          <a:p>
            <a:pPr>
              <a:lnSpc>
                <a:spcPts val="2440"/>
              </a:lnSpc>
              <a:spcBef>
                <a:spcPts val="0"/>
              </a:spcBef>
              <a:spcAft>
                <a:spcPts val="0"/>
              </a:spcAft>
              <a:defRPr sz="2000" b="0">
                <a:solidFill>
                  <a:srgbClr val="11283F"/>
                </a:solidFill>
                <a:latin typeface="DejaVu Sans"/>
              </a:defRPr>
            </a:pPr>
            <a:r>
              <a:t>Results disappear on new splits.</a:t>
            </a:r>
          </a:p>
          <a:p>
            <a:pPr>
              <a:lnSpc>
                <a:spcPts val="2440"/>
              </a:lnSpc>
              <a:spcBef>
                <a:spcPts val="0"/>
              </a:spcBef>
              <a:spcAft>
                <a:spcPts val="0"/>
              </a:spcAft>
              <a:defRPr sz="2000" b="0">
                <a:solidFill>
                  <a:srgbClr val="11283F"/>
                </a:solidFill>
                <a:latin typeface="DejaVu Sans"/>
              </a:defRPr>
            </a:pPr>
            <a:r>
              <a:t>Closest prior art already answers the</a:t>
            </a:r>
          </a:p>
          <a:p>
            <a:pPr>
              <a:lnSpc>
                <a:spcPts val="2440"/>
              </a:lnSpc>
              <a:spcBef>
                <a:spcPts val="0"/>
              </a:spcBef>
              <a:spcAft>
                <a:spcPts val="0"/>
              </a:spcAft>
              <a:defRPr sz="2000" b="0">
                <a:solidFill>
                  <a:srgbClr val="11283F"/>
                </a:solidFill>
                <a:latin typeface="DejaVu Sans"/>
              </a:defRPr>
            </a:pPr>
            <a:r>
              <a:t>question.</a:t>
            </a:r>
          </a:p>
        </p:txBody>
      </p:sp>
      <p:sp>
        <p:nvSpPr>
          <p:cNvPr id="13" name="Rectangle 12"/>
          <p:cNvSpPr/>
          <p:nvPr/>
        </p:nvSpPr>
        <p:spPr>
          <a:xfrm>
            <a:off x="6126480" y="1645920"/>
            <a:ext cx="5394960" cy="347472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645920"/>
            <a:ext cx="41148" cy="34747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7922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HONEST RESPONSE</a:t>
            </a:r>
          </a:p>
        </p:txBody>
      </p:sp>
      <p:sp>
        <p:nvSpPr>
          <p:cNvPr id="16" name="TextBox 15"/>
          <p:cNvSpPr txBox="1"/>
          <p:nvPr/>
        </p:nvSpPr>
        <p:spPr>
          <a:xfrm>
            <a:off x="6291072" y="2313432"/>
            <a:ext cx="5065776" cy="271576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Report the failure conditions.</a:t>
            </a:r>
          </a:p>
          <a:p>
            <a:pPr>
              <a:lnSpc>
                <a:spcPts val="2440"/>
              </a:lnSpc>
              <a:spcBef>
                <a:spcPts val="0"/>
              </a:spcBef>
              <a:spcAft>
                <a:spcPts val="0"/>
              </a:spcAft>
              <a:defRPr sz="2000" b="0">
                <a:solidFill>
                  <a:srgbClr val="11283F"/>
                </a:solidFill>
                <a:latin typeface="DejaVu Sans"/>
              </a:defRPr>
            </a:pPr>
            <a:r>
              <a:t>Keep all runs and controls.</a:t>
            </a:r>
          </a:p>
          <a:p>
            <a:pPr>
              <a:lnSpc>
                <a:spcPts val="2440"/>
              </a:lnSpc>
              <a:spcBef>
                <a:spcPts val="0"/>
              </a:spcBef>
              <a:spcAft>
                <a:spcPts val="0"/>
              </a:spcAft>
              <a:defRPr sz="2000" b="0">
                <a:solidFill>
                  <a:srgbClr val="11283F"/>
                </a:solidFill>
                <a:latin typeface="DejaVu Sans"/>
              </a:defRPr>
            </a:pPr>
            <a:r>
              <a:t>Revise claims and scope.</a:t>
            </a:r>
          </a:p>
          <a:p>
            <a:pPr>
              <a:lnSpc>
                <a:spcPts val="2440"/>
              </a:lnSpc>
              <a:spcBef>
                <a:spcPts val="0"/>
              </a:spcBef>
              <a:spcAft>
                <a:spcPts val="0"/>
              </a:spcAft>
              <a:defRPr sz="2000" b="0">
                <a:solidFill>
                  <a:srgbClr val="11283F"/>
                </a:solidFill>
                <a:latin typeface="DejaVu Sans"/>
              </a:defRPr>
            </a:pPr>
            <a:r>
              <a:t>Do not invent expected results or tune</a:t>
            </a:r>
          </a:p>
          <a:p>
            <a:pPr>
              <a:lnSpc>
                <a:spcPts val="2440"/>
              </a:lnSpc>
              <a:spcBef>
                <a:spcPts val="0"/>
              </a:spcBef>
              <a:spcAft>
                <a:spcPts val="0"/>
              </a:spcAft>
              <a:defRPr sz="2000" b="0">
                <a:solidFill>
                  <a:srgbClr val="11283F"/>
                </a:solidFill>
                <a:latin typeface="DejaVu Sans"/>
              </a:defRPr>
            </a:pPr>
            <a:r>
              <a:t>on test.</a:t>
            </a:r>
          </a:p>
        </p:txBody>
      </p:sp>
      <p:sp>
        <p:nvSpPr>
          <p:cNvPr id="17" name="TextBox 16"/>
          <p:cNvSpPr txBox="1"/>
          <p:nvPr/>
        </p:nvSpPr>
        <p:spPr>
          <a:xfrm>
            <a:off x="594360" y="5486400"/>
            <a:ext cx="10972800" cy="457200"/>
          </a:xfrm>
          <a:prstGeom prst="rect">
            <a:avLst/>
          </a:prstGeom>
          <a:noFill/>
        </p:spPr>
        <p:txBody>
          <a:bodyPr wrap="none" lIns="0" rIns="0" tIns="0" bIns="0">
            <a:spAutoFit/>
          </a:bodyPr>
          <a:lstStyle/>
          <a:p>
            <a:pPr>
              <a:lnSpc>
                <a:spcPts val="2257"/>
              </a:lnSpc>
              <a:spcBef>
                <a:spcPts val="0"/>
              </a:spcBef>
              <a:spcAft>
                <a:spcPts val="0"/>
              </a:spcAft>
              <a:defRPr sz="1850" b="1">
                <a:solidFill>
                  <a:srgbClr val="087F8C"/>
                </a:solidFill>
                <a:latin typeface="DejaVu Sans"/>
              </a:defRPr>
            </a:pPr>
            <a:r>
              <a:t>Research quality comes from a valid answer, not from forcing a positive outcome.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09 • IMPLEMENTATION</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415"/>
              </a:lnSpc>
              <a:spcBef>
                <a:spcPts val="0"/>
              </a:spcBef>
              <a:spcAft>
                <a:spcPts val="0"/>
              </a:spcAft>
              <a:defRPr sz="2800" b="1">
                <a:solidFill>
                  <a:srgbClr val="11283F"/>
                </a:solidFill>
                <a:latin typeface="DejaVu Sans"/>
              </a:defRPr>
            </a:pPr>
            <a:r>
              <a:t>The code demonstration: two minutes, no hand-waving</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DTU • [Student name] • [Roll number] • Prof. Rahul Gupta • 28 October 2026</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13</a:t>
            </a:r>
          </a:p>
        </p:txBody>
      </p:sp>
      <p:sp>
        <p:nvSpPr>
          <p:cNvPr id="9" name="Rectangle 8"/>
          <p:cNvSpPr/>
          <p:nvPr/>
        </p:nvSpPr>
        <p:spPr>
          <a:xfrm>
            <a:off x="548640" y="1645920"/>
            <a:ext cx="5394960" cy="35661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41148" cy="35661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922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SHOW THE FILES</a:t>
            </a:r>
          </a:p>
        </p:txBody>
      </p:sp>
      <p:sp>
        <p:nvSpPr>
          <p:cNvPr id="12" name="TextBox 11"/>
          <p:cNvSpPr txBox="1"/>
          <p:nvPr/>
        </p:nvSpPr>
        <p:spPr>
          <a:xfrm>
            <a:off x="713232" y="2313432"/>
            <a:ext cx="5065776" cy="2807208"/>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demo.py — measured baseline</a:t>
            </a:r>
          </a:p>
          <a:p>
            <a:pPr>
              <a:lnSpc>
                <a:spcPts val="2196"/>
              </a:lnSpc>
              <a:spcBef>
                <a:spcPts val="0"/>
              </a:spcBef>
              <a:spcAft>
                <a:spcPts val="0"/>
              </a:spcAft>
              <a:defRPr sz="1800" b="0">
                <a:solidFill>
                  <a:srgbClr val="11283F"/>
                </a:solidFill>
                <a:latin typeface="DejaVu Sans"/>
              </a:defRPr>
            </a:pPr>
            <a:r>
              <a:t>test_demo.py — 9 checks</a:t>
            </a:r>
          </a:p>
          <a:p>
            <a:pPr>
              <a:lnSpc>
                <a:spcPts val="2196"/>
              </a:lnSpc>
              <a:spcBef>
                <a:spcPts val="0"/>
              </a:spcBef>
              <a:spcAft>
                <a:spcPts val="0"/>
              </a:spcAft>
              <a:defRPr sz="1800" b="0">
                <a:solidFill>
                  <a:srgbClr val="11283F"/>
                </a:solidFill>
                <a:latin typeface="DejaVu Sans"/>
              </a:defRPr>
            </a:pPr>
            <a:r>
              <a:t>download_data.py — official input</a:t>
            </a:r>
          </a:p>
          <a:p>
            <a:pPr>
              <a:lnSpc>
                <a:spcPts val="2196"/>
              </a:lnSpc>
              <a:spcBef>
                <a:spcPts val="0"/>
              </a:spcBef>
              <a:spcAft>
                <a:spcPts val="0"/>
              </a:spcAft>
              <a:defRPr sz="1800" b="0">
                <a:solidFill>
                  <a:srgbClr val="11283F"/>
                </a:solidFill>
                <a:latin typeface="DejaVu Sans"/>
              </a:defRPr>
            </a:pPr>
            <a:r>
              <a:t>results/pilot.json — traceable evidence</a:t>
            </a:r>
          </a:p>
          <a:p>
            <a:pPr>
              <a:lnSpc>
                <a:spcPts val="2196"/>
              </a:lnSpc>
              <a:spcBef>
                <a:spcPts val="0"/>
              </a:spcBef>
              <a:spcAft>
                <a:spcPts val="0"/>
              </a:spcAft>
              <a:defRPr sz="1800" b="0">
                <a:solidFill>
                  <a:srgbClr val="11283F"/>
                </a:solidFill>
                <a:latin typeface="DejaVu Sans"/>
              </a:defRPr>
            </a:pPr>
            <a:r>
              <a:t>Colab_Quickstart.ipynb — CPU route</a:t>
            </a:r>
          </a:p>
        </p:txBody>
      </p:sp>
      <p:sp>
        <p:nvSpPr>
          <p:cNvPr id="13" name="Rectangle 12"/>
          <p:cNvSpPr/>
          <p:nvPr/>
        </p:nvSpPr>
        <p:spPr>
          <a:xfrm>
            <a:off x="6126480" y="1645920"/>
            <a:ext cx="5394960" cy="35661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645920"/>
            <a:ext cx="41148" cy="35661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7922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EXPLAIN THE CHECKS</a:t>
            </a:r>
          </a:p>
        </p:txBody>
      </p:sp>
      <p:sp>
        <p:nvSpPr>
          <p:cNvPr id="16" name="TextBox 15"/>
          <p:cNvSpPr txBox="1"/>
          <p:nvPr/>
        </p:nvSpPr>
        <p:spPr>
          <a:xfrm>
            <a:off x="6291072" y="2313432"/>
            <a:ext cx="5065776" cy="2807208"/>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Disjoint training/test IDs</a:t>
            </a:r>
          </a:p>
          <a:p>
            <a:pPr>
              <a:lnSpc>
                <a:spcPts val="2196"/>
              </a:lnSpc>
              <a:spcBef>
                <a:spcPts val="0"/>
              </a:spcBef>
              <a:spcAft>
                <a:spcPts val="0"/>
              </a:spcAft>
              <a:defRPr sz="1800" b="0">
                <a:solidFill>
                  <a:srgbClr val="11283F"/>
                </a:solidFill>
                <a:latin typeface="DejaVu Sans"/>
              </a:defRPr>
            </a:pPr>
            <a:r>
              <a:t>Complete-linkage condition</a:t>
            </a:r>
          </a:p>
          <a:p>
            <a:pPr>
              <a:lnSpc>
                <a:spcPts val="2196"/>
              </a:lnSpc>
              <a:spcBef>
                <a:spcPts val="0"/>
              </a:spcBef>
              <a:spcAft>
                <a:spcPts val="0"/>
              </a:spcAft>
              <a:defRPr sz="1800" b="0">
                <a:solidFill>
                  <a:srgbClr val="11283F"/>
                </a:solidFill>
                <a:latin typeface="DejaVu Sans"/>
              </a:defRPr>
            </a:pPr>
            <a:r>
              <a:t>Hand-computed RBO and linear values</a:t>
            </a:r>
          </a:p>
          <a:p>
            <a:pPr>
              <a:lnSpc>
                <a:spcPts val="2196"/>
              </a:lnSpc>
              <a:spcBef>
                <a:spcPts val="0"/>
              </a:spcBef>
              <a:spcAft>
                <a:spcPts val="0"/>
              </a:spcAft>
              <a:defRPr sz="1800" b="0">
                <a:solidFill>
                  <a:srgbClr val="11283F"/>
                </a:solidFill>
                <a:latin typeface="DejaVu Sans"/>
              </a:defRPr>
            </a:pPr>
            <a:r>
              <a:t>Exact logit reconstruction</a:t>
            </a:r>
          </a:p>
          <a:p>
            <a:pPr>
              <a:lnSpc>
                <a:spcPts val="2196"/>
              </a:lnSpc>
              <a:spcBef>
                <a:spcPts val="0"/>
              </a:spcBef>
              <a:spcAft>
                <a:spcPts val="0"/>
              </a:spcAft>
              <a:defRPr sz="1800" b="0">
                <a:solidFill>
                  <a:srgbClr val="11283F"/>
                </a:solidFill>
                <a:latin typeface="DejaVu Sans"/>
              </a:defRPr>
            </a:pPr>
            <a:r>
              <a:t>Identical deterministic rerun</a:t>
            </a:r>
          </a:p>
        </p:txBody>
      </p:sp>
      <p:sp>
        <p:nvSpPr>
          <p:cNvPr id="17" name="TextBox 16"/>
          <p:cNvSpPr txBox="1"/>
          <p:nvPr/>
        </p:nvSpPr>
        <p:spPr>
          <a:xfrm>
            <a:off x="594360" y="5559552"/>
            <a:ext cx="10972800" cy="384048"/>
          </a:xfrm>
          <a:prstGeom prst="rect">
            <a:avLst/>
          </a:prstGeom>
          <a:noFill/>
        </p:spPr>
        <p:txBody>
          <a:bodyPr wrap="none" lIns="0" rIns="0" tIns="0" bIns="0">
            <a:spAutoFit/>
          </a:bodyPr>
          <a:lstStyle/>
          <a:p>
            <a:pPr>
              <a:lnSpc>
                <a:spcPts val="1952"/>
              </a:lnSpc>
              <a:spcBef>
                <a:spcPts val="0"/>
              </a:spcBef>
              <a:spcAft>
                <a:spcPts val="0"/>
              </a:spcAft>
              <a:defRPr sz="1600" b="1">
                <a:solidFill>
                  <a:srgbClr val="BC7412"/>
                </a:solidFill>
                <a:latin typeface="DejaVu Sans"/>
              </a:defRPr>
            </a:pPr>
            <a:r>
              <a:t>Not implemented yet: tree SHAP, LIME, full synthetic oracle, recourse, second-data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10 • EXECUTION PLAN</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Eight weeks, with a deliverable gate each fortnight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DTU • [Student name] • [Roll number] • Prof. Rahul Gupta • 28 October 2026</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14</a:t>
            </a:r>
          </a:p>
        </p:txBody>
      </p:sp>
      <p:sp>
        <p:nvSpPr>
          <p:cNvPr id="9" name="Rectangle 8"/>
          <p:cNvSpPr/>
          <p:nvPr/>
        </p:nvSpPr>
        <p:spPr>
          <a:xfrm>
            <a:off x="594360" y="1645920"/>
            <a:ext cx="1097280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28800"/>
            <a:ext cx="242316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WEEKS 1–2</a:t>
            </a:r>
          </a:p>
        </p:txBody>
      </p:sp>
      <p:sp>
        <p:nvSpPr>
          <p:cNvPr id="11" name="TextBox 10"/>
          <p:cNvSpPr txBox="1"/>
          <p:nvPr/>
        </p:nvSpPr>
        <p:spPr>
          <a:xfrm>
            <a:off x="3429000" y="1792224"/>
            <a:ext cx="7772400" cy="621792"/>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Understand baseline; audit data; verify exact synthetic games.</a:t>
            </a:r>
          </a:p>
        </p:txBody>
      </p:sp>
      <p:sp>
        <p:nvSpPr>
          <p:cNvPr id="12" name="Rectangle 11"/>
          <p:cNvSpPr/>
          <p:nvPr/>
        </p:nvSpPr>
        <p:spPr>
          <a:xfrm>
            <a:off x="594360" y="2679191"/>
            <a:ext cx="1097280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862072"/>
            <a:ext cx="242316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WEEKS 3–4</a:t>
            </a:r>
          </a:p>
        </p:txBody>
      </p:sp>
      <p:sp>
        <p:nvSpPr>
          <p:cNvPr id="14" name="TextBox 13"/>
          <p:cNvSpPr txBox="1"/>
          <p:nvPr/>
        </p:nvSpPr>
        <p:spPr>
          <a:xfrm>
            <a:off x="3429000" y="2825496"/>
            <a:ext cx="7772400" cy="621792"/>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Add tree SHAP; run matched-group stability and negative</a:t>
            </a:r>
          </a:p>
          <a:p>
            <a:pPr>
              <a:lnSpc>
                <a:spcPts val="2318"/>
              </a:lnSpc>
              <a:spcBef>
                <a:spcPts val="0"/>
              </a:spcBef>
              <a:spcAft>
                <a:spcPts val="0"/>
              </a:spcAft>
              <a:defRPr sz="1900" b="0">
                <a:solidFill>
                  <a:srgbClr val="11283F"/>
                </a:solidFill>
                <a:latin typeface="DejaVu Sans"/>
              </a:defRPr>
            </a:pPr>
            <a:r>
              <a:t>controls.</a:t>
            </a:r>
          </a:p>
        </p:txBody>
      </p:sp>
      <p:sp>
        <p:nvSpPr>
          <p:cNvPr id="15" name="Rectangle 14"/>
          <p:cNvSpPr/>
          <p:nvPr/>
        </p:nvSpPr>
        <p:spPr>
          <a:xfrm>
            <a:off x="594360" y="3712463"/>
            <a:ext cx="1097280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895344"/>
            <a:ext cx="242316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WEEKS 5–6</a:t>
            </a:r>
          </a:p>
        </p:txBody>
      </p:sp>
      <p:sp>
        <p:nvSpPr>
          <p:cNvPr id="17" name="TextBox 16"/>
          <p:cNvSpPr txBox="1"/>
          <p:nvPr/>
        </p:nvSpPr>
        <p:spPr>
          <a:xfrm>
            <a:off x="3429000" y="3858768"/>
            <a:ext cx="7772400" cy="621792"/>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Measure information loss; replicate; freeze main results.</a:t>
            </a:r>
          </a:p>
        </p:txBody>
      </p:sp>
      <p:sp>
        <p:nvSpPr>
          <p:cNvPr id="18" name="Rectangle 17"/>
          <p:cNvSpPr/>
          <p:nvPr/>
        </p:nvSpPr>
        <p:spPr>
          <a:xfrm>
            <a:off x="594360" y="4745736"/>
            <a:ext cx="1097280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28616"/>
            <a:ext cx="2423160" cy="3657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WEEKS 7–8</a:t>
            </a:r>
          </a:p>
        </p:txBody>
      </p:sp>
      <p:sp>
        <p:nvSpPr>
          <p:cNvPr id="20" name="TextBox 19"/>
          <p:cNvSpPr txBox="1"/>
          <p:nvPr/>
        </p:nvSpPr>
        <p:spPr>
          <a:xfrm>
            <a:off x="3429000" y="4892040"/>
            <a:ext cx="7772400" cy="621792"/>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Write, review, replay and prepare a venue-specific submission.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11 • VENUES</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Publication plan: target fit, not a promise</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Verified series pages: icaif2026.org • ecmlpkdd.org • pakdd.org | No upcoming deadline commitment</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15</a:t>
            </a:r>
          </a:p>
        </p:txBody>
      </p:sp>
      <p:sp>
        <p:nvSpPr>
          <p:cNvPr id="9" name="Rectangle 8"/>
          <p:cNvSpPr/>
          <p:nvPr/>
        </p:nvSpPr>
        <p:spPr>
          <a:xfrm>
            <a:off x="548640" y="1691640"/>
            <a:ext cx="3566160" cy="324612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41148" cy="3246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3794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PRIMARY FIT</a:t>
            </a:r>
          </a:p>
        </p:txBody>
      </p:sp>
      <p:sp>
        <p:nvSpPr>
          <p:cNvPr id="12" name="TextBox 11"/>
          <p:cNvSpPr txBox="1"/>
          <p:nvPr/>
        </p:nvSpPr>
        <p:spPr>
          <a:xfrm>
            <a:off x="713232" y="2359152"/>
            <a:ext cx="3236976" cy="248716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Future ACM ICAIF call</a:t>
            </a:r>
          </a:p>
          <a:p>
            <a:pPr>
              <a:lnSpc>
                <a:spcPts val="2318"/>
              </a:lnSpc>
              <a:spcBef>
                <a:spcPts val="0"/>
              </a:spcBef>
              <a:spcAft>
                <a:spcPts val="0"/>
              </a:spcAft>
              <a:defRPr sz="1900" b="0">
                <a:solidFill>
                  <a:srgbClr val="11283F"/>
                </a:solidFill>
                <a:latin typeface="DejaVu Sans"/>
              </a:defRPr>
            </a:pPr>
            <a:r>
              <a:t>Financial ML +</a:t>
            </a:r>
          </a:p>
          <a:p>
            <a:pPr>
              <a:lnSpc>
                <a:spcPts val="2318"/>
              </a:lnSpc>
              <a:spcBef>
                <a:spcPts val="0"/>
              </a:spcBef>
              <a:spcAft>
                <a:spcPts val="0"/>
              </a:spcAft>
              <a:defRPr sz="1900" b="0">
                <a:solidFill>
                  <a:srgbClr val="11283F"/>
                </a:solidFill>
                <a:latin typeface="DejaVu Sans"/>
              </a:defRPr>
            </a:pPr>
            <a:r>
              <a:t>explainability</a:t>
            </a:r>
          </a:p>
          <a:p>
            <a:pPr>
              <a:lnSpc>
                <a:spcPts val="2318"/>
              </a:lnSpc>
              <a:spcBef>
                <a:spcPts val="0"/>
              </a:spcBef>
              <a:spcAft>
                <a:spcPts val="0"/>
              </a:spcAft>
              <a:defRPr sz="1900" b="0">
                <a:solidFill>
                  <a:srgbClr val="11283F"/>
                </a:solidFill>
                <a:latin typeface="DejaVu Sans"/>
              </a:defRPr>
            </a:pPr>
            <a:r>
              <a:t>2026 submissions closed</a:t>
            </a:r>
          </a:p>
          <a:p>
            <a:pPr>
              <a:lnSpc>
                <a:spcPts val="2318"/>
              </a:lnSpc>
              <a:spcBef>
                <a:spcPts val="0"/>
              </a:spcBef>
              <a:spcAft>
                <a:spcPts val="0"/>
              </a:spcAft>
              <a:defRPr sz="1900" b="0">
                <a:solidFill>
                  <a:srgbClr val="11283F"/>
                </a:solidFill>
                <a:latin typeface="DejaVu Sans"/>
              </a:defRPr>
            </a:pPr>
            <a:r>
              <a:t>Verify next CFP with</a:t>
            </a:r>
          </a:p>
          <a:p>
            <a:pPr>
              <a:lnSpc>
                <a:spcPts val="2318"/>
              </a:lnSpc>
              <a:spcBef>
                <a:spcPts val="0"/>
              </a:spcBef>
              <a:spcAft>
                <a:spcPts val="0"/>
              </a:spcAft>
              <a:defRPr sz="1900" b="0">
                <a:solidFill>
                  <a:srgbClr val="11283F"/>
                </a:solidFill>
                <a:latin typeface="DejaVu Sans"/>
              </a:defRPr>
            </a:pPr>
            <a:r>
              <a:t>advisor</a:t>
            </a:r>
          </a:p>
        </p:txBody>
      </p:sp>
      <p:sp>
        <p:nvSpPr>
          <p:cNvPr id="13" name="Rectangle 12"/>
          <p:cNvSpPr/>
          <p:nvPr/>
        </p:nvSpPr>
        <p:spPr>
          <a:xfrm>
            <a:off x="4297680" y="1691640"/>
            <a:ext cx="3566160" cy="324612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691640"/>
            <a:ext cx="41148" cy="3246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83794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EVALUATION OPTION</a:t>
            </a:r>
          </a:p>
        </p:txBody>
      </p:sp>
      <p:sp>
        <p:nvSpPr>
          <p:cNvPr id="16" name="TextBox 15"/>
          <p:cNvSpPr txBox="1"/>
          <p:nvPr/>
        </p:nvSpPr>
        <p:spPr>
          <a:xfrm>
            <a:off x="4462272" y="2359152"/>
            <a:ext cx="3236976" cy="248716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ECML PKDD XAI /</a:t>
            </a:r>
          </a:p>
          <a:p>
            <a:pPr>
              <a:lnSpc>
                <a:spcPts val="2318"/>
              </a:lnSpc>
              <a:spcBef>
                <a:spcPts val="0"/>
              </a:spcBef>
              <a:spcAft>
                <a:spcPts val="0"/>
              </a:spcAft>
              <a:defRPr sz="1900" b="0">
                <a:solidFill>
                  <a:srgbClr val="11283F"/>
                </a:solidFill>
                <a:latin typeface="DejaVu Sans"/>
              </a:defRPr>
            </a:pPr>
            <a:r>
              <a:t>trustworthy-ML workshop</a:t>
            </a:r>
          </a:p>
          <a:p>
            <a:pPr>
              <a:lnSpc>
                <a:spcPts val="2318"/>
              </a:lnSpc>
              <a:spcBef>
                <a:spcPts val="0"/>
              </a:spcBef>
              <a:spcAft>
                <a:spcPts val="0"/>
              </a:spcAft>
              <a:defRPr sz="1900" b="0">
                <a:solidFill>
                  <a:srgbClr val="11283F"/>
                </a:solidFill>
                <a:latin typeface="DejaVu Sans"/>
              </a:defRPr>
            </a:pPr>
            <a:r>
              <a:t>Check actual workshop</a:t>
            </a:r>
          </a:p>
          <a:p>
            <a:pPr>
              <a:lnSpc>
                <a:spcPts val="2318"/>
              </a:lnSpc>
              <a:spcBef>
                <a:spcPts val="0"/>
              </a:spcBef>
              <a:spcAft>
                <a:spcPts val="0"/>
              </a:spcAft>
              <a:defRPr sz="1900" b="0">
                <a:solidFill>
                  <a:srgbClr val="11283F"/>
                </a:solidFill>
                <a:latin typeface="DejaVu Sans"/>
              </a:defRPr>
            </a:pPr>
            <a:r>
              <a:t>and archival policy</a:t>
            </a:r>
          </a:p>
        </p:txBody>
      </p:sp>
      <p:sp>
        <p:nvSpPr>
          <p:cNvPr id="17" name="Rectangle 16"/>
          <p:cNvSpPr/>
          <p:nvPr/>
        </p:nvSpPr>
        <p:spPr>
          <a:xfrm>
            <a:off x="8046720" y="1691640"/>
            <a:ext cx="3566160" cy="324612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691640"/>
            <a:ext cx="41148" cy="32461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83794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STRETCH</a:t>
            </a:r>
          </a:p>
        </p:txBody>
      </p:sp>
      <p:sp>
        <p:nvSpPr>
          <p:cNvPr id="20" name="TextBox 19"/>
          <p:cNvSpPr txBox="1"/>
          <p:nvPr/>
        </p:nvSpPr>
        <p:spPr>
          <a:xfrm>
            <a:off x="8211312" y="2359152"/>
            <a:ext cx="3236976" cy="248716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PAKDD research track</a:t>
            </a:r>
          </a:p>
          <a:p>
            <a:pPr>
              <a:lnSpc>
                <a:spcPts val="2318"/>
              </a:lnSpc>
              <a:spcBef>
                <a:spcPts val="0"/>
              </a:spcBef>
              <a:spcAft>
                <a:spcPts val="0"/>
              </a:spcAft>
              <a:defRPr sz="1900" b="0">
                <a:solidFill>
                  <a:srgbClr val="11283F"/>
                </a:solidFill>
                <a:latin typeface="DejaVu Sans"/>
              </a:defRPr>
            </a:pPr>
            <a:r>
              <a:t>Requires stronger</a:t>
            </a:r>
          </a:p>
          <a:p>
            <a:pPr>
              <a:lnSpc>
                <a:spcPts val="2318"/>
              </a:lnSpc>
              <a:spcBef>
                <a:spcPts val="0"/>
              </a:spcBef>
              <a:spcAft>
                <a:spcPts val="0"/>
              </a:spcAft>
              <a:defRPr sz="1900" b="0">
                <a:solidFill>
                  <a:srgbClr val="11283F"/>
                </a:solidFill>
                <a:latin typeface="DejaVu Sans"/>
              </a:defRPr>
            </a:pPr>
            <a:r>
              <a:t>methodological evidence</a:t>
            </a:r>
          </a:p>
          <a:p>
            <a:pPr>
              <a:lnSpc>
                <a:spcPts val="2318"/>
              </a:lnSpc>
              <a:spcBef>
                <a:spcPts val="0"/>
              </a:spcBef>
              <a:spcAft>
                <a:spcPts val="0"/>
              </a:spcAft>
              <a:defRPr sz="1900" b="0">
                <a:solidFill>
                  <a:srgbClr val="11283F"/>
                </a:solidFill>
                <a:latin typeface="DejaVu Sans"/>
              </a:defRPr>
            </a:pPr>
            <a:r>
              <a:t>No deadline verified</a:t>
            </a:r>
          </a:p>
        </p:txBody>
      </p:sp>
      <p:sp>
        <p:nvSpPr>
          <p:cNvPr id="21" name="TextBox 20"/>
          <p:cNvSpPr txBox="1"/>
          <p:nvPr/>
        </p:nvSpPr>
        <p:spPr>
          <a:xfrm>
            <a:off x="594360" y="5349240"/>
            <a:ext cx="10972800" cy="594360"/>
          </a:xfrm>
          <a:prstGeom prst="rect">
            <a:avLst/>
          </a:prstGeom>
          <a:noFill/>
        </p:spPr>
        <p:txBody>
          <a:bodyPr wrap="none" lIns="0" rIns="0" tIns="0" bIns="0">
            <a:spAutoFit/>
          </a:bodyPr>
          <a:lstStyle/>
          <a:p>
            <a:pPr>
              <a:lnSpc>
                <a:spcPts val="2318"/>
              </a:lnSpc>
              <a:spcBef>
                <a:spcPts val="0"/>
              </a:spcBef>
              <a:spcAft>
                <a:spcPts val="0"/>
              </a:spcAft>
              <a:defRPr sz="1900" b="1">
                <a:solidFill>
                  <a:srgbClr val="087F8C"/>
                </a:solidFill>
                <a:latin typeface="DejaVu Sans"/>
              </a:defRPr>
            </a:pPr>
            <a:r>
              <a:t>Ask the supervisor: Is the narrowed empirical study suitable, and what</a:t>
            </a:r>
          </a:p>
          <a:p>
            <a:pPr>
              <a:lnSpc>
                <a:spcPts val="2318"/>
              </a:lnSpc>
              <a:spcBef>
                <a:spcPts val="0"/>
              </a:spcBef>
              <a:spcAft>
                <a:spcPts val="0"/>
              </a:spcAft>
              <a:defRPr sz="1900" b="1">
                <a:solidFill>
                  <a:srgbClr val="087F8C"/>
                </a:solidFill>
                <a:latin typeface="DejaVu Sans"/>
              </a:defRPr>
            </a:pPr>
            <a:r>
              <a:t>publication format does DTU require?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BACKUP 12 • REFERENCES</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Selected references and the novelty checkpoint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Full linked bibliography, verification levels and recent-work audit are in the Research Dossier.</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16</a:t>
            </a:r>
          </a:p>
        </p:txBody>
      </p:sp>
      <p:sp>
        <p:nvSpPr>
          <p:cNvPr id="9" name="TextBox 8"/>
          <p:cNvSpPr txBox="1"/>
          <p:nvPr/>
        </p:nvSpPr>
        <p:spPr>
          <a:xfrm>
            <a:off x="640080" y="1600200"/>
            <a:ext cx="10881360" cy="640080"/>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 Lundberg &amp; Lee (2017). A Unified Approach to Interpreting Model Predictions. arXiv:1705.07874.</a:t>
            </a:r>
          </a:p>
        </p:txBody>
      </p:sp>
      <p:sp>
        <p:nvSpPr>
          <p:cNvPr id="10" name="TextBox 9"/>
          <p:cNvSpPr txBox="1"/>
          <p:nvPr/>
        </p:nvSpPr>
        <p:spPr>
          <a:xfrm>
            <a:off x="640080" y="2313432"/>
            <a:ext cx="10881360" cy="640080"/>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 Krishna et al. The Disagreement Problem in Explainable Machine Learning. arXiv:2202.01602.</a:t>
            </a:r>
          </a:p>
        </p:txBody>
      </p:sp>
      <p:sp>
        <p:nvSpPr>
          <p:cNvPr id="11" name="TextBox 10"/>
          <p:cNvSpPr txBox="1"/>
          <p:nvPr/>
        </p:nvSpPr>
        <p:spPr>
          <a:xfrm>
            <a:off x="640080" y="3026664"/>
            <a:ext cx="10881360" cy="640080"/>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 Jullum, Redelmeier &amp; Aas. groupShapley. arXiv:2106.12228.</a:t>
            </a:r>
          </a:p>
        </p:txBody>
      </p:sp>
      <p:sp>
        <p:nvSpPr>
          <p:cNvPr id="12" name="TextBox 11"/>
          <p:cNvSpPr txBox="1"/>
          <p:nvPr/>
        </p:nvSpPr>
        <p:spPr>
          <a:xfrm>
            <a:off x="640080" y="3739896"/>
            <a:ext cx="10881360" cy="640080"/>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 Chen et al. (2020). True to the Model or True to the Data? arXiv:2006.16234.</a:t>
            </a:r>
          </a:p>
        </p:txBody>
      </p:sp>
      <p:sp>
        <p:nvSpPr>
          <p:cNvPr id="13" name="TextBox 12"/>
          <p:cNvSpPr txBox="1"/>
          <p:nvPr/>
        </p:nvSpPr>
        <p:spPr>
          <a:xfrm>
            <a:off x="640080" y="4453128"/>
            <a:ext cx="10881360" cy="640080"/>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 Hendro, Mei &amp; Welch (2025). Feature-Grouping for Robust SHAP. DOI:</a:t>
            </a:r>
          </a:p>
          <a:p>
            <a:pPr>
              <a:lnSpc>
                <a:spcPts val="2074"/>
              </a:lnSpc>
              <a:spcBef>
                <a:spcPts val="0"/>
              </a:spcBef>
              <a:spcAft>
                <a:spcPts val="0"/>
              </a:spcAft>
              <a:defRPr sz="1700" b="0">
                <a:solidFill>
                  <a:srgbClr val="11283F"/>
                </a:solidFill>
                <a:latin typeface="DejaVu Sans"/>
              </a:defRPr>
            </a:pPr>
            <a:r>
              <a:t>10.1109/ITNAC66378.2025.11302604.</a:t>
            </a:r>
          </a:p>
        </p:txBody>
      </p:sp>
      <p:sp>
        <p:nvSpPr>
          <p:cNvPr id="14" name="TextBox 13"/>
          <p:cNvSpPr txBox="1"/>
          <p:nvPr/>
        </p:nvSpPr>
        <p:spPr>
          <a:xfrm>
            <a:off x="640080" y="5166360"/>
            <a:ext cx="10881360" cy="640080"/>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 Quantifying overall agreement… (2026). DOI: 10.1007/s12065-026-01145-y.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